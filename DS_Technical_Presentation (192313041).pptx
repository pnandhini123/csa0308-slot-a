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9" r:id="rId2"/>
    <p:sldId id="270" r:id="rId3"/>
    <p:sldId id="271"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E8642BC-2AF3-C077-AB44-82F926CE8D62}">
          <p14:sldIdLst>
            <p14:sldId id="269"/>
            <p14:sldId id="270"/>
            <p14:sldId id="271"/>
          </p14:sldIdLst>
        </p14:section>
        <p14:section name="Q1 Array" id="{A501983F-A62C-2C6B-CDE4-482D980F88D1}">
          <p14:sldIdLst>
            <p14:sldId id="257"/>
            <p14:sldId id="258"/>
            <p14:sldId id="259"/>
          </p14:sldIdLst>
        </p14:section>
        <p14:section name="Q2 Graph" id="{92225B29-0EDC-FC1D-0C37-29AC9C185499}">
          <p14:sldIdLst>
            <p14:sldId id="260"/>
            <p14:sldId id="261"/>
            <p14:sldId id="262"/>
          </p14:sldIdLst>
        </p14:section>
        <p14:section name="Q3 Stack" id="{8EE8D247-B904-8F24-761E-9CB122EF035E}">
          <p14:sldIdLst>
            <p14:sldId id="263"/>
            <p14:sldId id="264"/>
            <p14:sldId id="265"/>
          </p14:sldIdLst>
        </p14:section>
        <p14:section name="Q4 Hash Table" id="{FAB670F7-BBD9-A0DE-4C0A-4216523F8139}">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91"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4232B"/>
                </a:solidFill>
                <a:latin typeface="+mn-lt"/>
              </a:defRPr>
            </a:pPr>
            <a:r>
              <a:rPr lang="fr-FR" sz="1100" b="0" i="0" u="none" strike="noStrike">
                <a:solidFill>
                  <a:srgbClr val="14232B"/>
                </a:solidFill>
                <a:latin typeface="+mn-lt"/>
              </a:rPr>
              <a:t>Avg comparisons, n = 50,000 (log scale)</a:t>
            </a:r>
          </a:p>
        </c:rich>
      </c:tx>
      <c:overlay val="0"/>
    </c:title>
    <c:autoTitleDeleted val="0"/>
    <c:plotArea>
      <c:layout/>
      <c:barChart>
        <c:barDir val="col"/>
        <c:grouping val="clustered"/>
        <c:varyColors val="0"/>
        <c:ser>
          <c:idx val="0"/>
          <c:order val="0"/>
          <c:tx>
            <c:strRef>
              <c:f>Sheet1!$B$1</c:f>
              <c:strCache>
                <c:ptCount val="1"/>
                <c:pt idx="0">
                  <c:v>Average comparisons</c:v>
                </c:pt>
              </c:strCache>
            </c:strRef>
          </c:tx>
          <c:spPr>
            <a:solidFill>
              <a:srgbClr val="6B7280"/>
            </a:solidFill>
            <a:effectLst/>
          </c:spPr>
          <c:invertIfNegative val="0"/>
          <c:dPt>
            <c:idx val="0"/>
            <c:invertIfNegative val="0"/>
            <c:bubble3D val="0"/>
            <c:extLst>
              <c:ext xmlns:c16="http://schemas.microsoft.com/office/drawing/2014/chart" uri="{C3380CC4-5D6E-409C-BE32-E72D297353CC}">
                <c16:uniqueId val="{00000001-F98F-4DC2-BCCA-DAF02439FE1B}"/>
              </c:ext>
            </c:extLst>
          </c:dPt>
          <c:dPt>
            <c:idx val="1"/>
            <c:invertIfNegative val="0"/>
            <c:bubble3D val="0"/>
            <c:extLst>
              <c:ext xmlns:c16="http://schemas.microsoft.com/office/drawing/2014/chart" uri="{C3380CC4-5D6E-409C-BE32-E72D297353CC}">
                <c16:uniqueId val="{00000003-F98F-4DC2-BCCA-DAF02439FE1B}"/>
              </c:ext>
            </c:extLst>
          </c:dPt>
          <c:dPt>
            <c:idx val="2"/>
            <c:invertIfNegative val="0"/>
            <c:bubble3D val="0"/>
            <c:extLst>
              <c:ext xmlns:c16="http://schemas.microsoft.com/office/drawing/2014/chart" uri="{C3380CC4-5D6E-409C-BE32-E72D297353CC}">
                <c16:uniqueId val="{00000005-F98F-4DC2-BCCA-DAF02439FE1B}"/>
              </c:ext>
            </c:extLst>
          </c:dPt>
          <c:dPt>
            <c:idx val="3"/>
            <c:invertIfNegative val="0"/>
            <c:bubble3D val="0"/>
            <c:spPr>
              <a:solidFill>
                <a:srgbClr val="F4A300"/>
              </a:solidFill>
              <a:effectLst/>
            </c:spPr>
            <c:extLst>
              <c:ext xmlns:c16="http://schemas.microsoft.com/office/drawing/2014/chart" uri="{C3380CC4-5D6E-409C-BE32-E72D297353CC}">
                <c16:uniqueId val="{00000007-F98F-4DC2-BCCA-DAF02439FE1B}"/>
              </c:ext>
            </c:extLst>
          </c:dPt>
          <c:dLbls>
            <c:numFmt formatCode="#,##0.#" sourceLinked="0"/>
            <c:spPr>
              <a:noFill/>
              <a:ln>
                <a:noFill/>
              </a:ln>
              <a:effectLst/>
            </c:spPr>
            <c:txPr>
              <a:bodyPr/>
              <a:lstStyle/>
              <a:p>
                <a:pPr>
                  <a:defRPr sz="1000" b="0" i="0" u="none" strike="noStrike">
                    <a:solidFill>
                      <a:srgbClr val="1423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Linear</c:v>
                </c:pt>
                <c:pt idx="1">
                  <c:v>Binary</c:v>
                </c:pt>
                <c:pt idx="2">
                  <c:v>BST</c:v>
                </c:pt>
                <c:pt idx="3">
                  <c:v>Hash</c:v>
                </c:pt>
              </c:strCache>
            </c:strRef>
          </c:cat>
          <c:val>
            <c:numRef>
              <c:f>Sheet1!$B$2:$B$5</c:f>
              <c:numCache>
                <c:formatCode>General</c:formatCode>
                <c:ptCount val="4"/>
                <c:pt idx="0">
                  <c:v>25000</c:v>
                </c:pt>
                <c:pt idx="1">
                  <c:v>16</c:v>
                </c:pt>
                <c:pt idx="2">
                  <c:v>16</c:v>
                </c:pt>
                <c:pt idx="3">
                  <c:v>1.5</c:v>
                </c:pt>
              </c:numCache>
            </c:numRef>
          </c:val>
          <c:extLst>
            <c:ext xmlns:c16="http://schemas.microsoft.com/office/drawing/2014/chart" uri="{C3380CC4-5D6E-409C-BE32-E72D297353CC}">
              <c16:uniqueId val="{00000008-F98F-4DC2-BCCA-DAF02439FE1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4232B"/>
                </a:solidFill>
                <a:latin typeface="+mn-lt"/>
              </a:defRPr>
            </a:pPr>
            <a:endParaRPr lang="en-US"/>
          </a:p>
        </c:txPr>
        <c:crossAx val="2094734552"/>
        <c:crosses val="autoZero"/>
        <c:auto val="1"/>
        <c:lblAlgn val="ctr"/>
        <c:lblOffset val="100"/>
        <c:noMultiLvlLbl val="1"/>
      </c:catAx>
      <c:valAx>
        <c:axId val="2094734552"/>
        <c:scaling>
          <c:logBase val="10"/>
          <c:orientation val="minMax"/>
          <c:max val="100000"/>
          <c:min val="1"/>
        </c:scaling>
        <c:delete val="0"/>
        <c:axPos val="l"/>
        <c:majorGridlines>
          <c:spPr>
            <a:ln w="6350" cap="flat">
              <a:solidFill>
                <a:srgbClr val="D9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040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management system must store 1,000 marks. Primitive types hold a single value, so 1,000 separate variables would be unmanageable. Non-primitive structures group many values and define how they are accessed.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1-D array stores all 1,000 marks in consecutive memory locations. The address of marks[i] is base + i times element size, so any mark is reached in constant time. For several subjects, extend to a 2-D array marks[1000][subjects].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and update are O(1) because of index arithmetic. Totals, averages and linear search touch every element, so O(n). If the marks are sorted, binary search gives O(log n). Insertion or deletion in the middle shifts elements, O(n), but this is rare for a fixed class 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road map is a many-to-many network. Cities are vertices and roads are weighted edges. Linear structures such as arrays, lists, stacks and queues cannot express branching connections. Distances shown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adjacency matrix needs V squared cells, which is wasteful because road networks are sparse. An adjacency list stores only the actual roads, using O(V + E) space, and lists a city's neighbours in time proportional to its degree.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 repeatedly picks the unvisited city with the smallest known distance and relaxes its outgoing roads. With a min-heap priority queue the cost is O((V + E) log V). It requires non-negative weights, which holds for distances and travel times. Result from Chennai: Bengaluru 350, Hyderabad 630, Pune 1190 via Hyderabad, Mumbai 1340 via Hyderabad and Pune.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Pressing Back must return to the most recently visited page, so the last page in is the first page out. That is exactly the Last-In-First-Out rule of a stack. An ADT defines behaviour (push, pop, peek, isEmpty) without fixing the implementation.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Visiting a page pushes it on top. Pressing Back pops the top and shows the new top. Peek reads the current page, and isEmpty disables the Back button. Every operation touches only the top, so each is O(1). A second stack can hold pages for the Forward button.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gives O(1) visit and O(1) back, regardless of history length. Shifting an array or scanning a list costs O(n) per action. A queue is FIFO so it would return the oldest page, which is the wrong behaviour. Memory is O(n), one entry per page.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needs very fast lookup by ISBN among 50,000 records. ISBN-13 is a unique key, which suits key-based structures. We compare linear search, binary search on a sorted array, a binary search tree and a hash 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ISBN is passed through a hash function h(k) = k mod m to get an array index. Collisions are handled by chaining: each bucket holds a short linked list. With m about 66,000 and n = 50,000, the load factor is about 0.75, so the average chain is shorter than one record and search is O(1 + alpha), effectively O(1).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 = 50,000: linear search averages 25,000 comparisons; binary search and a balanced BST need about 16 (log2 50,000 is about 15.6); a hash table needs about one or two. Hashing has O(n) worst case only if everything collides, which a good hash function and load factor avoid. If range queries or sorted order were needed, a balanced tree such as a B-tree would be preferred.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457200" y="822960"/>
            <a:ext cx="8229600" cy="13716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1"/>
          <p:cNvSpPr>
            <a:spLocks noGrp="1"/>
          </p:cNvSpPr>
          <p:nvPr>
            <p:ph type="body" idx="102" hasCustomPrompt="1"/>
          </p:nvPr>
        </p:nvSpPr>
        <p:spPr>
          <a:xfrm>
            <a:off x="457200" y="2286000"/>
            <a:ext cx="8229600" cy="548640"/>
          </a:xfrm>
          <a:prstGeom prst="rect">
            <a:avLst/>
          </a:prstGeom>
          <a:noFill/>
          <a:ln/>
        </p:spPr>
        <p:txBody>
          <a:bodyPr wrap="square" rtlCol="0"/>
          <a:lstStyle>
            <a:lvl1pPr marL="0" indent="0" algn="l">
              <a:buNone/>
              <a:defRPr lang="en-US" sz="1600" dirty="0">
                <a:solidFill>
                  <a:schemeClr val="bg2"/>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8229600" cy="68580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33AD0-BA7E-98F3-826E-05DE4D35CB7B}"/>
              </a:ext>
            </a:extLst>
          </p:cNvPr>
          <p:cNvSpPr txBox="1">
            <a:spLocks/>
          </p:cNvSpPr>
          <p:nvPr/>
        </p:nvSpPr>
        <p:spPr>
          <a:xfrm>
            <a:off x="467749" y="1436114"/>
            <a:ext cx="8229600" cy="1371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CSA03 Data Structures</a:t>
            </a:r>
            <a:endParaRPr lang="en-IN" dirty="0"/>
          </a:p>
        </p:txBody>
      </p:sp>
      <p:sp>
        <p:nvSpPr>
          <p:cNvPr id="3" name="Text Placeholder 2">
            <a:extLst>
              <a:ext uri="{FF2B5EF4-FFF2-40B4-BE49-F238E27FC236}">
                <a16:creationId xmlns:a16="http://schemas.microsoft.com/office/drawing/2014/main" id="{58A9CDB6-2A91-BD10-8AE2-94FCF82F0477}"/>
              </a:ext>
            </a:extLst>
          </p:cNvPr>
          <p:cNvSpPr txBox="1">
            <a:spLocks/>
          </p:cNvSpPr>
          <p:nvPr/>
        </p:nvSpPr>
        <p:spPr>
          <a:xfrm>
            <a:off x="1568548" y="2322928"/>
            <a:ext cx="8229600" cy="54864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    </a:t>
            </a:r>
            <a:r>
              <a:rPr lang="en-US" sz="2000" dirty="0"/>
              <a:t>CO1    Assessment Tool 2: Technical Presentation</a:t>
            </a:r>
            <a:endParaRPr lang="en-IN" dirty="0"/>
          </a:p>
        </p:txBody>
      </p:sp>
      <p:sp>
        <p:nvSpPr>
          <p:cNvPr id="4" name="TextBox 3">
            <a:extLst>
              <a:ext uri="{FF2B5EF4-FFF2-40B4-BE49-F238E27FC236}">
                <a16:creationId xmlns:a16="http://schemas.microsoft.com/office/drawing/2014/main" id="{D0F31DF3-B8D7-86FE-1E4C-179CDE8FE000}"/>
              </a:ext>
            </a:extLst>
          </p:cNvPr>
          <p:cNvSpPr txBox="1"/>
          <p:nvPr/>
        </p:nvSpPr>
        <p:spPr>
          <a:xfrm>
            <a:off x="6710290" y="3560749"/>
            <a:ext cx="3144129" cy="923330"/>
          </a:xfrm>
          <a:prstGeom prst="rect">
            <a:avLst/>
          </a:prstGeom>
          <a:noFill/>
        </p:spPr>
        <p:txBody>
          <a:bodyPr wrap="square" rtlCol="0">
            <a:spAutoFit/>
          </a:bodyPr>
          <a:lstStyle/>
          <a:p>
            <a:r>
              <a:rPr lang="en-IN" dirty="0"/>
              <a:t>Presented by</a:t>
            </a:r>
          </a:p>
          <a:p>
            <a:r>
              <a:rPr lang="en-IN" dirty="0"/>
              <a:t>P.Nandhini</a:t>
            </a:r>
          </a:p>
          <a:p>
            <a:r>
              <a:rPr lang="en-IN" dirty="0"/>
              <a:t>192313041</a:t>
            </a:r>
          </a:p>
        </p:txBody>
      </p:sp>
      <p:pic>
        <p:nvPicPr>
          <p:cNvPr id="5" name="Picture 2">
            <a:extLst>
              <a:ext uri="{FF2B5EF4-FFF2-40B4-BE49-F238E27FC236}">
                <a16:creationId xmlns:a16="http://schemas.microsoft.com/office/drawing/2014/main" id="{4D75EC40-DDDB-5430-0FEC-33F24196A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097" y="237186"/>
            <a:ext cx="8292905" cy="817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68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object 4">
            <a:extLst>
              <a:ext uri="{FF2B5EF4-FFF2-40B4-BE49-F238E27FC236}">
                <a16:creationId xmlns:a16="http://schemas.microsoft.com/office/drawing/2014/main" id="{8A71ECF9-149E-2800-820F-B160ABF382A3}"/>
              </a:ext>
            </a:extLst>
          </p:cNvPr>
          <p:cNvPicPr/>
          <p:nvPr/>
        </p:nvPicPr>
        <p:blipFill>
          <a:blip r:embed="rId2" cstate="print"/>
          <a:stretch>
            <a:fillRect/>
          </a:stretch>
        </p:blipFill>
        <p:spPr>
          <a:xfrm>
            <a:off x="357352" y="191626"/>
            <a:ext cx="1135116" cy="1160535"/>
          </a:xfrm>
          <a:prstGeom prst="rect">
            <a:avLst/>
          </a:prstGeom>
        </p:spPr>
      </p:pic>
      <p:pic>
        <p:nvPicPr>
          <p:cNvPr id="9" name="object 5">
            <a:extLst>
              <a:ext uri="{FF2B5EF4-FFF2-40B4-BE49-F238E27FC236}">
                <a16:creationId xmlns:a16="http://schemas.microsoft.com/office/drawing/2014/main" id="{4C3D811D-3DB0-3CEB-CE0A-F8EE9CCC8FEE}"/>
              </a:ext>
            </a:extLst>
          </p:cNvPr>
          <p:cNvPicPr/>
          <p:nvPr/>
        </p:nvPicPr>
        <p:blipFill>
          <a:blip r:embed="rId3" cstate="print"/>
          <a:stretch>
            <a:fillRect/>
          </a:stretch>
        </p:blipFill>
        <p:spPr>
          <a:xfrm>
            <a:off x="7538720" y="119627"/>
            <a:ext cx="1247928" cy="1160534"/>
          </a:xfrm>
          <a:prstGeom prst="rect">
            <a:avLst/>
          </a:prstGeom>
        </p:spPr>
      </p:pic>
      <p:pic>
        <p:nvPicPr>
          <p:cNvPr id="15" name="Picture 14">
            <a:extLst>
              <a:ext uri="{FF2B5EF4-FFF2-40B4-BE49-F238E27FC236}">
                <a16:creationId xmlns:a16="http://schemas.microsoft.com/office/drawing/2014/main" id="{4F83374A-D622-2348-BEF0-1D813825F276}"/>
              </a:ext>
            </a:extLst>
          </p:cNvPr>
          <p:cNvPicPr>
            <a:picLocks noChangeAspect="1"/>
          </p:cNvPicPr>
          <p:nvPr/>
        </p:nvPicPr>
        <p:blipFill>
          <a:blip r:embed="rId4"/>
          <a:stretch>
            <a:fillRect/>
          </a:stretch>
        </p:blipFill>
        <p:spPr>
          <a:xfrm>
            <a:off x="1291419" y="1579812"/>
            <a:ext cx="6782388" cy="2514818"/>
          </a:xfrm>
          <a:prstGeom prst="rect">
            <a:avLst/>
          </a:prstGeom>
        </p:spPr>
      </p:pic>
    </p:spTree>
    <p:extLst>
      <p:ext uri="{BB962C8B-B14F-4D97-AF65-F5344CB8AC3E}">
        <p14:creationId xmlns:p14="http://schemas.microsoft.com/office/powerpoint/2010/main" val="1360971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64BEAC-3A7A-A05C-B229-6D681272D2C6}"/>
              </a:ext>
            </a:extLst>
          </p:cNvPr>
          <p:cNvPicPr>
            <a:picLocks noChangeAspect="1"/>
          </p:cNvPicPr>
          <p:nvPr/>
        </p:nvPicPr>
        <p:blipFill>
          <a:blip r:embed="rId2"/>
          <a:stretch>
            <a:fillRect/>
          </a:stretch>
        </p:blipFill>
        <p:spPr>
          <a:xfrm>
            <a:off x="1112220" y="1135626"/>
            <a:ext cx="7272238" cy="3867114"/>
          </a:xfrm>
          <a:prstGeom prst="rect">
            <a:avLst/>
          </a:prstGeom>
        </p:spPr>
      </p:pic>
      <p:pic>
        <p:nvPicPr>
          <p:cNvPr id="7" name="object 4">
            <a:extLst>
              <a:ext uri="{FF2B5EF4-FFF2-40B4-BE49-F238E27FC236}">
                <a16:creationId xmlns:a16="http://schemas.microsoft.com/office/drawing/2014/main" id="{C147D133-FE3D-DCB0-B263-93BF899A7BE0}"/>
              </a:ext>
            </a:extLst>
          </p:cNvPr>
          <p:cNvPicPr/>
          <p:nvPr/>
        </p:nvPicPr>
        <p:blipFill>
          <a:blip r:embed="rId3" cstate="print"/>
          <a:stretch>
            <a:fillRect/>
          </a:stretch>
        </p:blipFill>
        <p:spPr>
          <a:xfrm>
            <a:off x="305733" y="140760"/>
            <a:ext cx="1135116" cy="870258"/>
          </a:xfrm>
          <a:prstGeom prst="rect">
            <a:avLst/>
          </a:prstGeom>
        </p:spPr>
      </p:pic>
      <p:pic>
        <p:nvPicPr>
          <p:cNvPr id="9" name="object 5">
            <a:extLst>
              <a:ext uri="{FF2B5EF4-FFF2-40B4-BE49-F238E27FC236}">
                <a16:creationId xmlns:a16="http://schemas.microsoft.com/office/drawing/2014/main" id="{A1AA857F-620F-B356-B9BB-BB23987C826B}"/>
              </a:ext>
            </a:extLst>
          </p:cNvPr>
          <p:cNvPicPr/>
          <p:nvPr/>
        </p:nvPicPr>
        <p:blipFill>
          <a:blip r:embed="rId4" cstate="print"/>
          <a:stretch>
            <a:fillRect/>
          </a:stretch>
        </p:blipFill>
        <p:spPr>
          <a:xfrm>
            <a:off x="7671455" y="46489"/>
            <a:ext cx="1247928" cy="870258"/>
          </a:xfrm>
          <a:prstGeom prst="rect">
            <a:avLst/>
          </a:prstGeom>
        </p:spPr>
      </p:pic>
    </p:spTree>
    <p:extLst>
      <p:ext uri="{BB962C8B-B14F-4D97-AF65-F5344CB8AC3E}">
        <p14:creationId xmlns:p14="http://schemas.microsoft.com/office/powerpoint/2010/main" val="2208395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1.Primitive vs non-primitive types</a:t>
            </a:r>
            <a:endParaRPr lang="en-US" sz="3000" dirty="0"/>
          </a:p>
        </p:txBody>
      </p:sp>
      <p:sp>
        <p:nvSpPr>
          <p:cNvPr id="5" name="primitive-card"/>
          <p:cNvSpPr/>
          <p:nvPr/>
        </p:nvSpPr>
        <p:spPr>
          <a:xfrm>
            <a:off x="457200" y="1371600"/>
            <a:ext cx="4937760" cy="1508760"/>
          </a:xfrm>
          <a:prstGeom prst="roundRect">
            <a:avLst>
              <a:gd name="adj" fmla="val 4848"/>
            </a:avLst>
          </a:prstGeom>
          <a:solidFill>
            <a:schemeClr val="bg2"/>
          </a:solidFill>
          <a:ln/>
        </p:spPr>
      </p:sp>
      <p:sp>
        <p:nvSpPr>
          <p:cNvPr id="6" name="Text 3"/>
          <p:cNvSpPr txBox="1"/>
          <p:nvPr/>
        </p:nvSpPr>
        <p:spPr>
          <a:xfrm>
            <a:off x="640080" y="1481328"/>
            <a:ext cx="4572000" cy="320040"/>
          </a:xfrm>
          <a:prstGeom prst="rect">
            <a:avLst/>
          </a:prstGeom>
          <a:noFill/>
          <a:ln/>
        </p:spPr>
        <p:txBody>
          <a:bodyPr wrap="square" lIns="0" tIns="0" rIns="0" bIns="0" rtlCol="0" anchor="t"/>
          <a:lstStyle/>
          <a:p>
            <a:pPr marL="0" indent="0">
              <a:buNone/>
            </a:pPr>
            <a:r>
              <a:rPr lang="en-US" sz="1800" b="1" dirty="0">
                <a:solidFill>
                  <a:schemeClr val="tx2"/>
                </a:solidFill>
              </a:rPr>
              <a:t>Primitive data types</a:t>
            </a:r>
            <a:endParaRPr lang="en-US" sz="1800" dirty="0"/>
          </a:p>
        </p:txBody>
      </p:sp>
      <p:sp>
        <p:nvSpPr>
          <p:cNvPr id="7" name="Text 4"/>
          <p:cNvSpPr txBox="1"/>
          <p:nvPr/>
        </p:nvSpPr>
        <p:spPr>
          <a:xfrm>
            <a:off x="640080" y="1874520"/>
            <a:ext cx="4572000" cy="91440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Examples: int, float, char, boolean</a:t>
            </a:r>
            <a:endParaRPr lang="en-US" sz="1400" dirty="0"/>
          </a:p>
          <a:p>
            <a:pPr marL="0" indent="0">
              <a:spcAft>
                <a:spcPts val="400"/>
              </a:spcAft>
              <a:buNone/>
            </a:pPr>
            <a:r>
              <a:rPr lang="en-US" sz="1400" dirty="0">
                <a:solidFill>
                  <a:schemeClr val="tx1"/>
                </a:solidFill>
              </a:rPr>
              <a:t>Hold a single value of fixed size. Fast, but one variable per mark.</a:t>
            </a:r>
            <a:endParaRPr lang="en-US" sz="1400" dirty="0"/>
          </a:p>
        </p:txBody>
      </p:sp>
      <p:sp>
        <p:nvSpPr>
          <p:cNvPr id="8" name="nonprimitive-card"/>
          <p:cNvSpPr/>
          <p:nvPr/>
        </p:nvSpPr>
        <p:spPr>
          <a:xfrm>
            <a:off x="457200" y="3017520"/>
            <a:ext cx="4937760" cy="1508760"/>
          </a:xfrm>
          <a:prstGeom prst="roundRect">
            <a:avLst>
              <a:gd name="adj" fmla="val 4848"/>
            </a:avLst>
          </a:prstGeom>
          <a:solidFill>
            <a:schemeClr val="bg2"/>
          </a:solidFill>
          <a:ln/>
        </p:spPr>
      </p:sp>
      <p:sp>
        <p:nvSpPr>
          <p:cNvPr id="9" name="Text 6"/>
          <p:cNvSpPr txBox="1"/>
          <p:nvPr/>
        </p:nvSpPr>
        <p:spPr>
          <a:xfrm>
            <a:off x="640080" y="3127248"/>
            <a:ext cx="4572000" cy="320040"/>
          </a:xfrm>
          <a:prstGeom prst="rect">
            <a:avLst/>
          </a:prstGeom>
          <a:noFill/>
          <a:ln/>
        </p:spPr>
        <p:txBody>
          <a:bodyPr wrap="square" lIns="0" tIns="0" rIns="0" bIns="0" rtlCol="0" anchor="t"/>
          <a:lstStyle/>
          <a:p>
            <a:pPr marL="0" indent="0">
              <a:buNone/>
            </a:pPr>
            <a:r>
              <a:rPr lang="en-US" sz="1800" b="1" dirty="0">
                <a:solidFill>
                  <a:schemeClr val="tx2"/>
                </a:solidFill>
              </a:rPr>
              <a:t>Non-primitive data structures</a:t>
            </a:r>
            <a:endParaRPr lang="en-US" sz="1800" dirty="0"/>
          </a:p>
        </p:txBody>
      </p:sp>
      <p:sp>
        <p:nvSpPr>
          <p:cNvPr id="10" name="Text 7"/>
          <p:cNvSpPr txBox="1"/>
          <p:nvPr/>
        </p:nvSpPr>
        <p:spPr>
          <a:xfrm>
            <a:off x="640080" y="3520440"/>
            <a:ext cx="4572000" cy="914400"/>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Examples: array, linked list, stack, queue, tree, graph</a:t>
            </a:r>
            <a:endParaRPr lang="en-US" sz="1400" dirty="0"/>
          </a:p>
          <a:p>
            <a:pPr marL="0" indent="0">
              <a:spcAft>
                <a:spcPts val="400"/>
              </a:spcAft>
              <a:buNone/>
            </a:pPr>
            <a:r>
              <a:rPr lang="en-US" sz="1400" dirty="0">
                <a:solidFill>
                  <a:schemeClr val="tx1"/>
                </a:solidFill>
              </a:rPr>
              <a:t>Hold collections of values and define how they are organised and accessed.</a:t>
            </a:r>
            <a:endParaRPr lang="en-US" sz="1400" dirty="0"/>
          </a:p>
        </p:txBody>
      </p:sp>
      <p:sp>
        <p:nvSpPr>
          <p:cNvPr id="11" name="problem-callout"/>
          <p:cNvSpPr/>
          <p:nvPr/>
        </p:nvSpPr>
        <p:spPr>
          <a:xfrm>
            <a:off x="5669280" y="1371600"/>
            <a:ext cx="3017520" cy="3154680"/>
          </a:xfrm>
          <a:prstGeom prst="roundRect">
            <a:avLst>
              <a:gd name="adj" fmla="val 2424"/>
            </a:avLst>
          </a:prstGeom>
          <a:solidFill>
            <a:schemeClr val="tx2"/>
          </a:solidFill>
          <a:ln/>
        </p:spPr>
      </p:sp>
      <p:sp>
        <p:nvSpPr>
          <p:cNvPr id="12" name="Text 9"/>
          <p:cNvSpPr txBox="1"/>
          <p:nvPr/>
        </p:nvSpPr>
        <p:spPr>
          <a:xfrm>
            <a:off x="5852160" y="1600200"/>
            <a:ext cx="2651760" cy="82296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1,000</a:t>
            </a:r>
            <a:endParaRPr lang="en-US" sz="5400" dirty="0"/>
          </a:p>
        </p:txBody>
      </p:sp>
      <p:sp>
        <p:nvSpPr>
          <p:cNvPr id="13" name="Text 10"/>
          <p:cNvSpPr txBox="1"/>
          <p:nvPr/>
        </p:nvSpPr>
        <p:spPr>
          <a:xfrm>
            <a:off x="5852160" y="2468880"/>
            <a:ext cx="2651760" cy="274320"/>
          </a:xfrm>
          <a:prstGeom prst="rect">
            <a:avLst/>
          </a:prstGeom>
          <a:noFill/>
          <a:ln/>
        </p:spPr>
        <p:txBody>
          <a:bodyPr wrap="square" lIns="0" tIns="0" rIns="0" bIns="0" rtlCol="0" anchor="t"/>
          <a:lstStyle/>
          <a:p>
            <a:pPr marL="0" indent="0">
              <a:buNone/>
            </a:pPr>
            <a:r>
              <a:rPr lang="en-US" sz="1400" b="1" dirty="0">
                <a:solidFill>
                  <a:schemeClr val="bg1"/>
                </a:solidFill>
              </a:rPr>
              <a:t>student marks to store</a:t>
            </a:r>
            <a:endParaRPr lang="en-US" sz="1400" dirty="0"/>
          </a:p>
        </p:txBody>
      </p:sp>
      <p:sp>
        <p:nvSpPr>
          <p:cNvPr id="14" name="Text 11"/>
          <p:cNvSpPr txBox="1"/>
          <p:nvPr/>
        </p:nvSpPr>
        <p:spPr>
          <a:xfrm>
            <a:off x="5852160" y="2926080"/>
            <a:ext cx="2651760" cy="1371600"/>
          </a:xfrm>
          <a:prstGeom prst="rect">
            <a:avLst/>
          </a:prstGeom>
          <a:noFill/>
          <a:ln/>
        </p:spPr>
        <p:txBody>
          <a:bodyPr wrap="square" lIns="0" tIns="0" rIns="0" bIns="0" rtlCol="0" anchor="t"/>
          <a:lstStyle/>
          <a:p>
            <a:pPr marL="0" indent="0">
              <a:buNone/>
            </a:pPr>
            <a:r>
              <a:rPr lang="en-US" sz="1400" dirty="0">
                <a:solidFill>
                  <a:schemeClr val="bg1"/>
                </a:solidFill>
              </a:rPr>
              <a:t>Declaring 1,000 separate primitive variables is impractical. We need one structure that groups them.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Choice: a one-dimensional array</a:t>
            </a:r>
            <a:endParaRPr lang="en-US" sz="3000" dirty="0"/>
          </a:p>
        </p:txBody>
      </p:sp>
      <p:sp>
        <p:nvSpPr>
          <p:cNvPr id="5" name="cell-0"/>
          <p:cNvSpPr/>
          <p:nvPr/>
        </p:nvSpPr>
        <p:spPr>
          <a:xfrm>
            <a:off x="457200" y="1371600"/>
            <a:ext cx="1188720" cy="548640"/>
          </a:xfrm>
          <a:prstGeom prst="rect">
            <a:avLst/>
          </a:prstGeom>
          <a:solidFill>
            <a:schemeClr val="accent1"/>
          </a:solidFill>
          <a:ln/>
        </p:spPr>
      </p:sp>
      <p:sp>
        <p:nvSpPr>
          <p:cNvPr id="6" name="Text 3"/>
          <p:cNvSpPr txBox="1"/>
          <p:nvPr/>
        </p:nvSpPr>
        <p:spPr>
          <a:xfrm>
            <a:off x="457200" y="1371600"/>
            <a:ext cx="1188720" cy="548640"/>
          </a:xfrm>
          <a:prstGeom prst="rect">
            <a:avLst/>
          </a:prstGeom>
          <a:noFill/>
          <a:ln/>
        </p:spPr>
        <p:txBody>
          <a:bodyPr wrap="square" lIns="0" tIns="0" rIns="0" bIns="0" rtlCol="0" anchor="ctr"/>
          <a:lstStyle/>
          <a:p>
            <a:pPr marL="0" indent="0" algn="ctr">
              <a:buNone/>
            </a:pPr>
            <a:r>
              <a:rPr lang="en-US" sz="2000" b="1" dirty="0">
                <a:solidFill>
                  <a:schemeClr val="bg1"/>
                </a:solidFill>
              </a:rPr>
              <a:t>78</a:t>
            </a:r>
            <a:endParaRPr lang="en-US" sz="2000" dirty="0"/>
          </a:p>
        </p:txBody>
      </p:sp>
      <p:sp>
        <p:nvSpPr>
          <p:cNvPr id="7" name="Text 4"/>
          <p:cNvSpPr txBox="1"/>
          <p:nvPr/>
        </p:nvSpPr>
        <p:spPr>
          <a:xfrm>
            <a:off x="457200" y="1975104"/>
            <a:ext cx="1188720" cy="228600"/>
          </a:xfrm>
          <a:prstGeom prst="rect">
            <a:avLst/>
          </a:prstGeom>
          <a:noFill/>
          <a:ln/>
        </p:spPr>
        <p:txBody>
          <a:bodyPr wrap="square" lIns="0" tIns="0" rIns="0" bIns="0" rtlCol="0" anchor="t"/>
          <a:lstStyle/>
          <a:p>
            <a:pPr marL="0" indent="0" algn="ctr">
              <a:buNone/>
            </a:pPr>
            <a:r>
              <a:rPr lang="en-US" sz="1200" dirty="0">
                <a:solidFill>
                  <a:schemeClr val="accent6"/>
                </a:solidFill>
              </a:rPr>
              <a:t>marks[0]</a:t>
            </a:r>
            <a:endParaRPr lang="en-US" sz="1200" dirty="0"/>
          </a:p>
        </p:txBody>
      </p:sp>
      <p:sp>
        <p:nvSpPr>
          <p:cNvPr id="8" name="cell-1"/>
          <p:cNvSpPr/>
          <p:nvPr/>
        </p:nvSpPr>
        <p:spPr>
          <a:xfrm>
            <a:off x="1773936" y="1371600"/>
            <a:ext cx="1188720" cy="548640"/>
          </a:xfrm>
          <a:prstGeom prst="rect">
            <a:avLst/>
          </a:prstGeom>
          <a:solidFill>
            <a:schemeClr val="accent1"/>
          </a:solidFill>
          <a:ln/>
        </p:spPr>
      </p:sp>
      <p:sp>
        <p:nvSpPr>
          <p:cNvPr id="9" name="Text 6"/>
          <p:cNvSpPr txBox="1"/>
          <p:nvPr/>
        </p:nvSpPr>
        <p:spPr>
          <a:xfrm>
            <a:off x="1773936" y="1371600"/>
            <a:ext cx="1188720" cy="548640"/>
          </a:xfrm>
          <a:prstGeom prst="rect">
            <a:avLst/>
          </a:prstGeom>
          <a:noFill/>
          <a:ln/>
        </p:spPr>
        <p:txBody>
          <a:bodyPr wrap="square" lIns="0" tIns="0" rIns="0" bIns="0" rtlCol="0" anchor="ctr"/>
          <a:lstStyle/>
          <a:p>
            <a:pPr marL="0" indent="0" algn="ctr">
              <a:buNone/>
            </a:pPr>
            <a:r>
              <a:rPr lang="en-US" sz="2000" b="1" dirty="0">
                <a:solidFill>
                  <a:schemeClr val="bg1"/>
                </a:solidFill>
              </a:rPr>
              <a:t>92</a:t>
            </a:r>
            <a:endParaRPr lang="en-US" sz="2000" dirty="0"/>
          </a:p>
        </p:txBody>
      </p:sp>
      <p:sp>
        <p:nvSpPr>
          <p:cNvPr id="10" name="Text 7"/>
          <p:cNvSpPr txBox="1"/>
          <p:nvPr/>
        </p:nvSpPr>
        <p:spPr>
          <a:xfrm>
            <a:off x="1773936" y="1975104"/>
            <a:ext cx="1188720" cy="228600"/>
          </a:xfrm>
          <a:prstGeom prst="rect">
            <a:avLst/>
          </a:prstGeom>
          <a:noFill/>
          <a:ln/>
        </p:spPr>
        <p:txBody>
          <a:bodyPr wrap="square" lIns="0" tIns="0" rIns="0" bIns="0" rtlCol="0" anchor="t"/>
          <a:lstStyle/>
          <a:p>
            <a:pPr marL="0" indent="0" algn="ctr">
              <a:buNone/>
            </a:pPr>
            <a:r>
              <a:rPr lang="en-US" sz="1200" dirty="0">
                <a:solidFill>
                  <a:schemeClr val="accent6"/>
                </a:solidFill>
              </a:rPr>
              <a:t>marks[1]</a:t>
            </a:r>
            <a:endParaRPr lang="en-US" sz="1200" dirty="0"/>
          </a:p>
        </p:txBody>
      </p:sp>
      <p:sp>
        <p:nvSpPr>
          <p:cNvPr id="11" name="cell-2"/>
          <p:cNvSpPr/>
          <p:nvPr/>
        </p:nvSpPr>
        <p:spPr>
          <a:xfrm>
            <a:off x="3090672" y="1371600"/>
            <a:ext cx="1188720" cy="548640"/>
          </a:xfrm>
          <a:prstGeom prst="rect">
            <a:avLst/>
          </a:prstGeom>
          <a:solidFill>
            <a:schemeClr val="accent1"/>
          </a:solidFill>
          <a:ln/>
        </p:spPr>
      </p:sp>
      <p:sp>
        <p:nvSpPr>
          <p:cNvPr id="12" name="Text 9"/>
          <p:cNvSpPr txBox="1"/>
          <p:nvPr/>
        </p:nvSpPr>
        <p:spPr>
          <a:xfrm>
            <a:off x="3090672" y="1371600"/>
            <a:ext cx="1188720" cy="548640"/>
          </a:xfrm>
          <a:prstGeom prst="rect">
            <a:avLst/>
          </a:prstGeom>
          <a:noFill/>
          <a:ln/>
        </p:spPr>
        <p:txBody>
          <a:bodyPr wrap="square" lIns="0" tIns="0" rIns="0" bIns="0" rtlCol="0" anchor="ctr"/>
          <a:lstStyle/>
          <a:p>
            <a:pPr marL="0" indent="0" algn="ctr">
              <a:buNone/>
            </a:pPr>
            <a:r>
              <a:rPr lang="en-US" sz="2000" b="1" dirty="0">
                <a:solidFill>
                  <a:schemeClr val="bg1"/>
                </a:solidFill>
              </a:rPr>
              <a:t>65</a:t>
            </a:r>
            <a:endParaRPr lang="en-US" sz="2000" dirty="0"/>
          </a:p>
        </p:txBody>
      </p:sp>
      <p:sp>
        <p:nvSpPr>
          <p:cNvPr id="13" name="Text 10"/>
          <p:cNvSpPr txBox="1"/>
          <p:nvPr/>
        </p:nvSpPr>
        <p:spPr>
          <a:xfrm>
            <a:off x="3090672" y="1975104"/>
            <a:ext cx="1188720" cy="228600"/>
          </a:xfrm>
          <a:prstGeom prst="rect">
            <a:avLst/>
          </a:prstGeom>
          <a:noFill/>
          <a:ln/>
        </p:spPr>
        <p:txBody>
          <a:bodyPr wrap="square" lIns="0" tIns="0" rIns="0" bIns="0" rtlCol="0" anchor="t"/>
          <a:lstStyle/>
          <a:p>
            <a:pPr marL="0" indent="0" algn="ctr">
              <a:buNone/>
            </a:pPr>
            <a:r>
              <a:rPr lang="en-US" sz="1200" dirty="0">
                <a:solidFill>
                  <a:schemeClr val="accent6"/>
                </a:solidFill>
              </a:rPr>
              <a:t>marks[2]</a:t>
            </a:r>
            <a:endParaRPr lang="en-US" sz="1200" dirty="0"/>
          </a:p>
        </p:txBody>
      </p:sp>
      <p:sp>
        <p:nvSpPr>
          <p:cNvPr id="14" name="cell-3"/>
          <p:cNvSpPr/>
          <p:nvPr/>
        </p:nvSpPr>
        <p:spPr>
          <a:xfrm>
            <a:off x="4407408" y="1371600"/>
            <a:ext cx="1188720" cy="548640"/>
          </a:xfrm>
          <a:prstGeom prst="rect">
            <a:avLst/>
          </a:prstGeom>
          <a:solidFill>
            <a:schemeClr val="accent1"/>
          </a:solidFill>
          <a:ln/>
        </p:spPr>
      </p:sp>
      <p:sp>
        <p:nvSpPr>
          <p:cNvPr id="15" name="Text 12"/>
          <p:cNvSpPr txBox="1"/>
          <p:nvPr/>
        </p:nvSpPr>
        <p:spPr>
          <a:xfrm>
            <a:off x="4407408" y="1371600"/>
            <a:ext cx="1188720" cy="548640"/>
          </a:xfrm>
          <a:prstGeom prst="rect">
            <a:avLst/>
          </a:prstGeom>
          <a:noFill/>
          <a:ln/>
        </p:spPr>
        <p:txBody>
          <a:bodyPr wrap="square" lIns="0" tIns="0" rIns="0" bIns="0" rtlCol="0" anchor="ctr"/>
          <a:lstStyle/>
          <a:p>
            <a:pPr marL="0" indent="0" algn="ctr">
              <a:buNone/>
            </a:pPr>
            <a:r>
              <a:rPr lang="en-US" sz="2000" b="1" dirty="0">
                <a:solidFill>
                  <a:schemeClr val="bg1"/>
                </a:solidFill>
              </a:rPr>
              <a:t>88</a:t>
            </a:r>
            <a:endParaRPr lang="en-US" sz="2000" dirty="0"/>
          </a:p>
        </p:txBody>
      </p:sp>
      <p:sp>
        <p:nvSpPr>
          <p:cNvPr id="16" name="Text 13"/>
          <p:cNvSpPr txBox="1"/>
          <p:nvPr/>
        </p:nvSpPr>
        <p:spPr>
          <a:xfrm>
            <a:off x="4407408" y="1975104"/>
            <a:ext cx="1188720" cy="228600"/>
          </a:xfrm>
          <a:prstGeom prst="rect">
            <a:avLst/>
          </a:prstGeom>
          <a:noFill/>
          <a:ln/>
        </p:spPr>
        <p:txBody>
          <a:bodyPr wrap="square" lIns="0" tIns="0" rIns="0" bIns="0" rtlCol="0" anchor="t"/>
          <a:lstStyle/>
          <a:p>
            <a:pPr marL="0" indent="0" algn="ctr">
              <a:buNone/>
            </a:pPr>
            <a:r>
              <a:rPr lang="en-US" sz="1200" dirty="0">
                <a:solidFill>
                  <a:schemeClr val="accent6"/>
                </a:solidFill>
              </a:rPr>
              <a:t>marks[3]</a:t>
            </a:r>
            <a:endParaRPr lang="en-US" sz="1200" dirty="0"/>
          </a:p>
        </p:txBody>
      </p:sp>
      <p:sp>
        <p:nvSpPr>
          <p:cNvPr id="17" name="cell-4"/>
          <p:cNvSpPr/>
          <p:nvPr/>
        </p:nvSpPr>
        <p:spPr>
          <a:xfrm>
            <a:off x="5724144" y="1371600"/>
            <a:ext cx="1188720" cy="548640"/>
          </a:xfrm>
          <a:prstGeom prst="rect">
            <a:avLst/>
          </a:prstGeom>
          <a:solidFill>
            <a:schemeClr val="bg2"/>
          </a:solidFill>
          <a:ln/>
        </p:spPr>
      </p:sp>
      <p:sp>
        <p:nvSpPr>
          <p:cNvPr id="18" name="Text 15"/>
          <p:cNvSpPr txBox="1"/>
          <p:nvPr/>
        </p:nvSpPr>
        <p:spPr>
          <a:xfrm>
            <a:off x="5724144" y="1371600"/>
            <a:ext cx="1188720" cy="548640"/>
          </a:xfrm>
          <a:prstGeom prst="rect">
            <a:avLst/>
          </a:prstGeom>
          <a:noFill/>
          <a:ln/>
        </p:spPr>
        <p:txBody>
          <a:bodyPr wrap="square" lIns="0" tIns="0" rIns="0" bIns="0" rtlCol="0" anchor="ctr"/>
          <a:lstStyle/>
          <a:p>
            <a:pPr marL="0" indent="0" algn="ctr">
              <a:buNone/>
            </a:pPr>
            <a:r>
              <a:rPr lang="en-US" sz="2000" b="1" dirty="0">
                <a:solidFill>
                  <a:schemeClr val="tx2"/>
                </a:solidFill>
              </a:rPr>
              <a:t>. . .</a:t>
            </a:r>
            <a:endParaRPr lang="en-US" sz="2000" dirty="0"/>
          </a:p>
        </p:txBody>
      </p:sp>
      <p:sp>
        <p:nvSpPr>
          <p:cNvPr id="19" name="Text 16"/>
          <p:cNvSpPr txBox="1"/>
          <p:nvPr/>
        </p:nvSpPr>
        <p:spPr>
          <a:xfrm>
            <a:off x="5724144" y="1975104"/>
            <a:ext cx="1188720" cy="228600"/>
          </a:xfrm>
          <a:prstGeom prst="rect">
            <a:avLst/>
          </a:prstGeom>
          <a:noFill/>
          <a:ln/>
        </p:spPr>
        <p:txBody>
          <a:bodyPr wrap="square" lIns="0" tIns="0" rIns="0" bIns="0" rtlCol="0" anchor="t"/>
          <a:lstStyle/>
          <a:p>
            <a:pPr marL="0" indent="0" algn="ctr">
              <a:buNone/>
            </a:pPr>
            <a:endParaRPr lang="en-US" sz="1200" dirty="0"/>
          </a:p>
        </p:txBody>
      </p:sp>
      <p:sp>
        <p:nvSpPr>
          <p:cNvPr id="20" name="cell-5"/>
          <p:cNvSpPr/>
          <p:nvPr/>
        </p:nvSpPr>
        <p:spPr>
          <a:xfrm>
            <a:off x="7040880" y="1371600"/>
            <a:ext cx="1188720" cy="548640"/>
          </a:xfrm>
          <a:prstGeom prst="rect">
            <a:avLst/>
          </a:prstGeom>
          <a:solidFill>
            <a:schemeClr val="accent1"/>
          </a:solidFill>
          <a:ln/>
        </p:spPr>
      </p:sp>
      <p:sp>
        <p:nvSpPr>
          <p:cNvPr id="21" name="Text 18"/>
          <p:cNvSpPr txBox="1"/>
          <p:nvPr/>
        </p:nvSpPr>
        <p:spPr>
          <a:xfrm>
            <a:off x="7040880" y="1371600"/>
            <a:ext cx="1188720" cy="548640"/>
          </a:xfrm>
          <a:prstGeom prst="rect">
            <a:avLst/>
          </a:prstGeom>
          <a:noFill/>
          <a:ln/>
        </p:spPr>
        <p:txBody>
          <a:bodyPr wrap="square" lIns="0" tIns="0" rIns="0" bIns="0" rtlCol="0" anchor="ctr"/>
          <a:lstStyle/>
          <a:p>
            <a:pPr marL="0" indent="0" algn="ctr">
              <a:buNone/>
            </a:pPr>
            <a:r>
              <a:rPr lang="en-US" sz="2000" b="1" dirty="0">
                <a:solidFill>
                  <a:schemeClr val="bg1"/>
                </a:solidFill>
              </a:rPr>
              <a:t>71</a:t>
            </a:r>
            <a:endParaRPr lang="en-US" sz="2000" dirty="0"/>
          </a:p>
        </p:txBody>
      </p:sp>
      <p:sp>
        <p:nvSpPr>
          <p:cNvPr id="22" name="Text 19"/>
          <p:cNvSpPr txBox="1"/>
          <p:nvPr/>
        </p:nvSpPr>
        <p:spPr>
          <a:xfrm>
            <a:off x="7040880" y="1975104"/>
            <a:ext cx="1188720" cy="228600"/>
          </a:xfrm>
          <a:prstGeom prst="rect">
            <a:avLst/>
          </a:prstGeom>
          <a:noFill/>
          <a:ln/>
        </p:spPr>
        <p:txBody>
          <a:bodyPr wrap="square" lIns="0" tIns="0" rIns="0" bIns="0" rtlCol="0" anchor="t"/>
          <a:lstStyle/>
          <a:p>
            <a:pPr marL="0" indent="0" algn="ctr">
              <a:buNone/>
            </a:pPr>
            <a:r>
              <a:rPr lang="en-US" sz="1200" dirty="0">
                <a:solidFill>
                  <a:schemeClr val="accent6"/>
                </a:solidFill>
              </a:rPr>
              <a:t>marks[999]</a:t>
            </a:r>
            <a:endParaRPr lang="en-US" sz="1200" dirty="0"/>
          </a:p>
        </p:txBody>
      </p:sp>
      <p:sp>
        <p:nvSpPr>
          <p:cNvPr id="23" name="Text 20"/>
          <p:cNvSpPr txBox="1"/>
          <p:nvPr/>
        </p:nvSpPr>
        <p:spPr>
          <a:xfrm>
            <a:off x="457200" y="2286000"/>
            <a:ext cx="8229600" cy="274320"/>
          </a:xfrm>
          <a:prstGeom prst="rect">
            <a:avLst/>
          </a:prstGeom>
          <a:noFill/>
          <a:ln/>
        </p:spPr>
        <p:txBody>
          <a:bodyPr wrap="square" lIns="0" tIns="0" rIns="0" bIns="0" rtlCol="0" anchor="t"/>
          <a:lstStyle/>
          <a:p>
            <a:pPr marL="0" indent="0">
              <a:buNone/>
            </a:pPr>
            <a:r>
              <a:rPr lang="en-US" sz="1400" i="1" dirty="0">
                <a:solidFill>
                  <a:schemeClr val="accent1"/>
                </a:solidFill>
              </a:rPr>
              <a:t>Contiguous memory: address of marks[i] = base address + i x element size</a:t>
            </a:r>
            <a:endParaRPr lang="en-US" sz="1400" dirty="0"/>
          </a:p>
        </p:txBody>
      </p:sp>
      <p:sp>
        <p:nvSpPr>
          <p:cNvPr id="24" name="reason-0"/>
          <p:cNvSpPr/>
          <p:nvPr/>
        </p:nvSpPr>
        <p:spPr>
          <a:xfrm>
            <a:off x="457200" y="2788920"/>
            <a:ext cx="4023360" cy="822960"/>
          </a:xfrm>
          <a:prstGeom prst="roundRect">
            <a:avLst>
              <a:gd name="adj" fmla="val 8889"/>
            </a:avLst>
          </a:prstGeom>
          <a:solidFill>
            <a:schemeClr val="bg2"/>
          </a:solidFill>
          <a:ln/>
        </p:spPr>
      </p:sp>
      <p:sp>
        <p:nvSpPr>
          <p:cNvPr id="25" name="Text 22"/>
          <p:cNvSpPr txBox="1"/>
          <p:nvPr/>
        </p:nvSpPr>
        <p:spPr>
          <a:xfrm>
            <a:off x="640080" y="2880360"/>
            <a:ext cx="3657600" cy="256032"/>
          </a:xfrm>
          <a:prstGeom prst="rect">
            <a:avLst/>
          </a:prstGeom>
          <a:noFill/>
          <a:ln/>
        </p:spPr>
        <p:txBody>
          <a:bodyPr wrap="square" lIns="0" tIns="0" rIns="0" bIns="0" rtlCol="0" anchor="t"/>
          <a:lstStyle/>
          <a:p>
            <a:pPr marL="0" indent="0">
              <a:buNone/>
            </a:pPr>
            <a:r>
              <a:rPr lang="en-US" sz="1400" b="1" dirty="0">
                <a:solidFill>
                  <a:schemeClr val="tx2"/>
                </a:solidFill>
              </a:rPr>
              <a:t>Direct access</a:t>
            </a:r>
            <a:endParaRPr lang="en-US" sz="1400" dirty="0"/>
          </a:p>
        </p:txBody>
      </p:sp>
      <p:sp>
        <p:nvSpPr>
          <p:cNvPr id="26" name="Text 23"/>
          <p:cNvSpPr txBox="1"/>
          <p:nvPr/>
        </p:nvSpPr>
        <p:spPr>
          <a:xfrm>
            <a:off x="640080" y="3154680"/>
            <a:ext cx="3657600" cy="411480"/>
          </a:xfrm>
          <a:prstGeom prst="rect">
            <a:avLst/>
          </a:prstGeom>
          <a:noFill/>
          <a:ln/>
        </p:spPr>
        <p:txBody>
          <a:bodyPr wrap="square" lIns="0" tIns="0" rIns="0" bIns="0" rtlCol="0" anchor="t"/>
          <a:lstStyle/>
          <a:p>
            <a:pPr marL="0" indent="0">
              <a:buNone/>
            </a:pPr>
            <a:r>
              <a:rPr lang="en-US" sz="1400" dirty="0">
                <a:solidFill>
                  <a:schemeClr val="tx1"/>
                </a:solidFill>
              </a:rPr>
              <a:t>marks[i] is reached in O(1) using the index.</a:t>
            </a:r>
            <a:endParaRPr lang="en-US" sz="1400" dirty="0"/>
          </a:p>
        </p:txBody>
      </p:sp>
      <p:sp>
        <p:nvSpPr>
          <p:cNvPr id="27" name="reason-1"/>
          <p:cNvSpPr/>
          <p:nvPr/>
        </p:nvSpPr>
        <p:spPr>
          <a:xfrm>
            <a:off x="4663440" y="2788920"/>
            <a:ext cx="4023360" cy="822960"/>
          </a:xfrm>
          <a:prstGeom prst="roundRect">
            <a:avLst>
              <a:gd name="adj" fmla="val 8889"/>
            </a:avLst>
          </a:prstGeom>
          <a:solidFill>
            <a:schemeClr val="bg2"/>
          </a:solidFill>
          <a:ln/>
        </p:spPr>
      </p:sp>
      <p:sp>
        <p:nvSpPr>
          <p:cNvPr id="28" name="Text 25"/>
          <p:cNvSpPr txBox="1"/>
          <p:nvPr/>
        </p:nvSpPr>
        <p:spPr>
          <a:xfrm>
            <a:off x="4846320" y="2880360"/>
            <a:ext cx="3657600" cy="256032"/>
          </a:xfrm>
          <a:prstGeom prst="rect">
            <a:avLst/>
          </a:prstGeom>
          <a:noFill/>
          <a:ln/>
        </p:spPr>
        <p:txBody>
          <a:bodyPr wrap="square" lIns="0" tIns="0" rIns="0" bIns="0" rtlCol="0" anchor="t"/>
          <a:lstStyle/>
          <a:p>
            <a:pPr marL="0" indent="0">
              <a:buNone/>
            </a:pPr>
            <a:r>
              <a:rPr lang="en-US" sz="1400" b="1" dirty="0">
                <a:solidFill>
                  <a:schemeClr val="tx2"/>
                </a:solidFill>
              </a:rPr>
              <a:t>Fixed, known size</a:t>
            </a:r>
            <a:endParaRPr lang="en-US" sz="1400" dirty="0"/>
          </a:p>
        </p:txBody>
      </p:sp>
      <p:sp>
        <p:nvSpPr>
          <p:cNvPr id="29" name="Text 26"/>
          <p:cNvSpPr txBox="1"/>
          <p:nvPr/>
        </p:nvSpPr>
        <p:spPr>
          <a:xfrm>
            <a:off x="4846320" y="3154680"/>
            <a:ext cx="3657600" cy="411480"/>
          </a:xfrm>
          <a:prstGeom prst="rect">
            <a:avLst/>
          </a:prstGeom>
          <a:noFill/>
          <a:ln/>
        </p:spPr>
        <p:txBody>
          <a:bodyPr wrap="square" lIns="0" tIns="0" rIns="0" bIns="0" rtlCol="0" anchor="t"/>
          <a:lstStyle/>
          <a:p>
            <a:pPr marL="0" indent="0">
              <a:buNone/>
            </a:pPr>
            <a:r>
              <a:rPr lang="en-US" sz="1400" dirty="0">
                <a:solidFill>
                  <a:schemeClr val="tx1"/>
                </a:solidFill>
              </a:rPr>
              <a:t>Exactly 1,000 records, so no resizing is needed.</a:t>
            </a:r>
            <a:endParaRPr lang="en-US" sz="1400" dirty="0"/>
          </a:p>
        </p:txBody>
      </p:sp>
      <p:sp>
        <p:nvSpPr>
          <p:cNvPr id="30" name="reason-2"/>
          <p:cNvSpPr/>
          <p:nvPr/>
        </p:nvSpPr>
        <p:spPr>
          <a:xfrm>
            <a:off x="457200" y="3749040"/>
            <a:ext cx="4023360" cy="822960"/>
          </a:xfrm>
          <a:prstGeom prst="roundRect">
            <a:avLst>
              <a:gd name="adj" fmla="val 8889"/>
            </a:avLst>
          </a:prstGeom>
          <a:solidFill>
            <a:schemeClr val="bg2"/>
          </a:solidFill>
          <a:ln/>
        </p:spPr>
      </p:sp>
      <p:sp>
        <p:nvSpPr>
          <p:cNvPr id="31" name="Text 28"/>
          <p:cNvSpPr txBox="1"/>
          <p:nvPr/>
        </p:nvSpPr>
        <p:spPr>
          <a:xfrm>
            <a:off x="640080" y="3840480"/>
            <a:ext cx="3657600" cy="256032"/>
          </a:xfrm>
          <a:prstGeom prst="rect">
            <a:avLst/>
          </a:prstGeom>
          <a:noFill/>
          <a:ln/>
        </p:spPr>
        <p:txBody>
          <a:bodyPr wrap="square" lIns="0" tIns="0" rIns="0" bIns="0" rtlCol="0" anchor="t"/>
          <a:lstStyle/>
          <a:p>
            <a:pPr marL="0" indent="0">
              <a:buNone/>
            </a:pPr>
            <a:r>
              <a:rPr lang="en-US" sz="1400" b="1" dirty="0">
                <a:solidFill>
                  <a:schemeClr val="tx2"/>
                </a:solidFill>
              </a:rPr>
              <a:t>Minimal memory</a:t>
            </a:r>
            <a:endParaRPr lang="en-US" sz="1400" dirty="0"/>
          </a:p>
        </p:txBody>
      </p:sp>
      <p:sp>
        <p:nvSpPr>
          <p:cNvPr id="32" name="Text 29"/>
          <p:cNvSpPr txBox="1"/>
          <p:nvPr/>
        </p:nvSpPr>
        <p:spPr>
          <a:xfrm>
            <a:off x="640080" y="4114800"/>
            <a:ext cx="3657600" cy="411480"/>
          </a:xfrm>
          <a:prstGeom prst="rect">
            <a:avLst/>
          </a:prstGeom>
          <a:noFill/>
          <a:ln/>
        </p:spPr>
        <p:txBody>
          <a:bodyPr wrap="square" lIns="0" tIns="0" rIns="0" bIns="0" rtlCol="0" anchor="t"/>
          <a:lstStyle/>
          <a:p>
            <a:pPr marL="0" indent="0">
              <a:buNone/>
            </a:pPr>
            <a:r>
              <a:rPr lang="en-US" sz="1400" dirty="0">
                <a:solidFill>
                  <a:schemeClr val="tx1"/>
                </a:solidFill>
              </a:rPr>
              <a:t>No pointers: 1,000 ints take about 4 KB, O(n).</a:t>
            </a:r>
            <a:endParaRPr lang="en-US" sz="1400" dirty="0"/>
          </a:p>
        </p:txBody>
      </p:sp>
      <p:sp>
        <p:nvSpPr>
          <p:cNvPr id="33" name="reason-3"/>
          <p:cNvSpPr/>
          <p:nvPr/>
        </p:nvSpPr>
        <p:spPr>
          <a:xfrm>
            <a:off x="4663440" y="3749040"/>
            <a:ext cx="4023360" cy="822960"/>
          </a:xfrm>
          <a:prstGeom prst="roundRect">
            <a:avLst>
              <a:gd name="adj" fmla="val 8889"/>
            </a:avLst>
          </a:prstGeom>
          <a:solidFill>
            <a:schemeClr val="bg2"/>
          </a:solidFill>
          <a:ln/>
        </p:spPr>
      </p:sp>
      <p:sp>
        <p:nvSpPr>
          <p:cNvPr id="34" name="Text 31"/>
          <p:cNvSpPr txBox="1"/>
          <p:nvPr/>
        </p:nvSpPr>
        <p:spPr>
          <a:xfrm>
            <a:off x="4846320" y="3840480"/>
            <a:ext cx="3657600" cy="256032"/>
          </a:xfrm>
          <a:prstGeom prst="rect">
            <a:avLst/>
          </a:prstGeom>
          <a:noFill/>
          <a:ln/>
        </p:spPr>
        <p:txBody>
          <a:bodyPr wrap="square" lIns="0" tIns="0" rIns="0" bIns="0" rtlCol="0" anchor="t"/>
          <a:lstStyle/>
          <a:p>
            <a:pPr marL="0" indent="0">
              <a:buNone/>
            </a:pPr>
            <a:r>
              <a:rPr lang="en-US" sz="1400" b="1" dirty="0">
                <a:solidFill>
                  <a:schemeClr val="tx2"/>
                </a:solidFill>
              </a:rPr>
              <a:t>Easy to process</a:t>
            </a:r>
            <a:endParaRPr lang="en-US" sz="1400" dirty="0"/>
          </a:p>
        </p:txBody>
      </p:sp>
      <p:sp>
        <p:nvSpPr>
          <p:cNvPr id="35" name="Text 32"/>
          <p:cNvSpPr txBox="1"/>
          <p:nvPr/>
        </p:nvSpPr>
        <p:spPr>
          <a:xfrm>
            <a:off x="4846320" y="4114800"/>
            <a:ext cx="3657600" cy="411480"/>
          </a:xfrm>
          <a:prstGeom prst="rect">
            <a:avLst/>
          </a:prstGeom>
          <a:noFill/>
          <a:ln/>
        </p:spPr>
        <p:txBody>
          <a:bodyPr wrap="square" lIns="0" tIns="0" rIns="0" bIns="0" rtlCol="0" anchor="t"/>
          <a:lstStyle/>
          <a:p>
            <a:pPr marL="0" indent="0">
              <a:buNone/>
            </a:pPr>
            <a:r>
              <a:rPr lang="en-US" sz="1400" dirty="0">
                <a:solidFill>
                  <a:schemeClr val="tx1"/>
                </a:solidFill>
              </a:rPr>
              <a:t>Simple loops give total, average, rank and sort.</a:t>
            </a:r>
            <a:endParaRPr lang="en-US" sz="14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Efficiency of the array</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120640" cy="2194560"/>
        </p:xfrm>
        <a:graphic>
          <a:graphicData uri="http://schemas.openxmlformats.org/drawingml/2006/table">
            <a:tbl>
              <a:tblPr/>
              <a:tblGrid>
                <a:gridCol w="3291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65760">
                <a:tc>
                  <a:txBody>
                    <a:bodyPr/>
                    <a:lstStyle/>
                    <a:p>
                      <a:pPr marL="0" indent="0">
                        <a:buNone/>
                      </a:pPr>
                      <a:r>
                        <a:rPr lang="en-US" sz="1400" b="1" dirty="0">
                          <a:solidFill>
                            <a:schemeClr val="bg1"/>
                          </a:solidFill>
                        </a:rPr>
                        <a:t>Operation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Time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buNone/>
                      </a:pPr>
                      <a:r>
                        <a:rPr lang="en-US" sz="1400" dirty="0">
                          <a:solidFill>
                            <a:schemeClr val="tx1"/>
                          </a:solidFill>
                        </a:rPr>
                        <a:t>Access or update marks[i]</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b="1" dirty="0">
                          <a:solidFill>
                            <a:schemeClr val="accent1"/>
                          </a:solidFill>
                        </a:rPr>
                        <a:t>O(1)</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dirty="0">
                          <a:solidFill>
                            <a:schemeClr val="tx1"/>
                          </a:solidFill>
                        </a:rPr>
                        <a:t>Total or average of all marks</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400" dirty="0">
                          <a:solidFill>
                            <a:schemeClr val="tx1"/>
                          </a:solidFill>
                        </a:rPr>
                        <a:t>Linear search for a mark</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400" dirty="0">
                          <a:solidFill>
                            <a:schemeClr val="tx1"/>
                          </a:solidFill>
                        </a:rPr>
                        <a:t>Binary search (sorted marks)</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O(log 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400" dirty="0">
                          <a:solidFill>
                            <a:schemeClr val="tx1"/>
                          </a:solidFill>
                        </a:rPr>
                        <a:t>Insert or delete in the middle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tat-space"/>
          <p:cNvSpPr/>
          <p:nvPr/>
        </p:nvSpPr>
        <p:spPr>
          <a:xfrm>
            <a:off x="5852160" y="1371600"/>
            <a:ext cx="2834640" cy="1005840"/>
          </a:xfrm>
          <a:prstGeom prst="roundRect">
            <a:avLst>
              <a:gd name="adj" fmla="val 7273"/>
            </a:avLst>
          </a:prstGeom>
          <a:solidFill>
            <a:schemeClr val="tx2"/>
          </a:solidFill>
          <a:ln/>
        </p:spPr>
      </p:sp>
      <p:sp>
        <p:nvSpPr>
          <p:cNvPr id="7" name="Text 3"/>
          <p:cNvSpPr txBox="1"/>
          <p:nvPr/>
        </p:nvSpPr>
        <p:spPr>
          <a:xfrm>
            <a:off x="6035040" y="1444752"/>
            <a:ext cx="2468880" cy="45720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about 4 KB</a:t>
            </a:r>
            <a:endParaRPr lang="en-US" sz="2800" dirty="0"/>
          </a:p>
        </p:txBody>
      </p:sp>
      <p:sp>
        <p:nvSpPr>
          <p:cNvPr id="8" name="Text 4"/>
          <p:cNvSpPr txBox="1"/>
          <p:nvPr/>
        </p:nvSpPr>
        <p:spPr>
          <a:xfrm>
            <a:off x="6035040" y="1938528"/>
            <a:ext cx="2468880" cy="365760"/>
          </a:xfrm>
          <a:prstGeom prst="rect">
            <a:avLst/>
          </a:prstGeom>
          <a:noFill/>
          <a:ln/>
        </p:spPr>
        <p:txBody>
          <a:bodyPr wrap="square" lIns="0" tIns="0" rIns="0" bIns="0" rtlCol="0" anchor="t"/>
          <a:lstStyle/>
          <a:p>
            <a:pPr marL="0" indent="0">
              <a:buNone/>
            </a:pPr>
            <a:r>
              <a:rPr lang="en-US" sz="1400" dirty="0">
                <a:solidFill>
                  <a:schemeClr val="bg1"/>
                </a:solidFill>
              </a:rPr>
              <a:t>1,000 ints x 4 bytes, space O(n)</a:t>
            </a:r>
            <a:endParaRPr lang="en-US" sz="1400" dirty="0"/>
          </a:p>
        </p:txBody>
      </p:sp>
      <p:sp>
        <p:nvSpPr>
          <p:cNvPr id="9" name="stat-access"/>
          <p:cNvSpPr/>
          <p:nvPr/>
        </p:nvSpPr>
        <p:spPr>
          <a:xfrm>
            <a:off x="5852160" y="2560320"/>
            <a:ext cx="2834640" cy="1005840"/>
          </a:xfrm>
          <a:prstGeom prst="roundRect">
            <a:avLst>
              <a:gd name="adj" fmla="val 7273"/>
            </a:avLst>
          </a:prstGeom>
          <a:solidFill>
            <a:schemeClr val="tx2"/>
          </a:solidFill>
          <a:ln/>
        </p:spPr>
      </p:sp>
      <p:sp>
        <p:nvSpPr>
          <p:cNvPr id="10" name="Text 6"/>
          <p:cNvSpPr txBox="1"/>
          <p:nvPr/>
        </p:nvSpPr>
        <p:spPr>
          <a:xfrm>
            <a:off x="6035040" y="2633472"/>
            <a:ext cx="2468880" cy="45720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O(1)</a:t>
            </a:r>
            <a:endParaRPr lang="en-US" sz="2800" dirty="0"/>
          </a:p>
        </p:txBody>
      </p:sp>
      <p:sp>
        <p:nvSpPr>
          <p:cNvPr id="11" name="Text 7"/>
          <p:cNvSpPr txBox="1"/>
          <p:nvPr/>
        </p:nvSpPr>
        <p:spPr>
          <a:xfrm>
            <a:off x="6035040" y="3127248"/>
            <a:ext cx="2468880" cy="365760"/>
          </a:xfrm>
          <a:prstGeom prst="rect">
            <a:avLst/>
          </a:prstGeom>
          <a:noFill/>
          <a:ln/>
        </p:spPr>
        <p:txBody>
          <a:bodyPr wrap="square" lIns="0" tIns="0" rIns="0" bIns="0" rtlCol="0" anchor="t"/>
          <a:lstStyle/>
          <a:p>
            <a:pPr marL="0" indent="0">
              <a:buNone/>
            </a:pPr>
            <a:r>
              <a:rPr lang="en-US" sz="1400" dirty="0">
                <a:solidFill>
                  <a:schemeClr val="bg1"/>
                </a:solidFill>
              </a:rPr>
              <a:t>access to any student's mark</a:t>
            </a:r>
            <a:endParaRPr lang="en-US" sz="1400" dirty="0"/>
          </a:p>
        </p:txBody>
      </p:sp>
      <p:sp>
        <p:nvSpPr>
          <p:cNvPr id="12" name="verdict"/>
          <p:cNvSpPr/>
          <p:nvPr/>
        </p:nvSpPr>
        <p:spPr>
          <a:xfrm>
            <a:off x="457200" y="3840480"/>
            <a:ext cx="8229600" cy="685800"/>
          </a:xfrm>
          <a:prstGeom prst="roundRect">
            <a:avLst>
              <a:gd name="adj" fmla="val 10667"/>
            </a:avLst>
          </a:prstGeom>
          <a:solidFill>
            <a:schemeClr val="accent2"/>
          </a:solidFill>
          <a:ln/>
        </p:spPr>
      </p:sp>
      <p:sp>
        <p:nvSpPr>
          <p:cNvPr id="13" name="Text 9"/>
          <p:cNvSpPr txBox="1"/>
          <p:nvPr/>
        </p:nvSpPr>
        <p:spPr>
          <a:xfrm>
            <a:off x="640080" y="3840480"/>
            <a:ext cx="7863840" cy="685800"/>
          </a:xfrm>
          <a:prstGeom prst="rect">
            <a:avLst/>
          </a:prstGeom>
          <a:noFill/>
          <a:ln/>
        </p:spPr>
        <p:txBody>
          <a:bodyPr wrap="square" lIns="0" tIns="0" rIns="0" bIns="0" rtlCol="0" anchor="ctr"/>
          <a:lstStyle/>
          <a:p>
            <a:pPr marL="0" indent="0">
              <a:buNone/>
            </a:pPr>
            <a:r>
              <a:rPr lang="en-US" sz="1600" b="1" dirty="0">
                <a:solidFill>
                  <a:schemeClr val="tx1"/>
                </a:solidFill>
              </a:rPr>
              <a:t>Verdict: a 1-D array gives the fastest access with the least memory for fixed-size marks data.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2.Why a graph fits navigation</a:t>
            </a:r>
            <a:endParaRPr lang="en-US" sz="3000" dirty="0"/>
          </a:p>
        </p:txBody>
      </p:sp>
      <p:sp>
        <p:nvSpPr>
          <p:cNvPr id="5" name="Shape 2"/>
          <p:cNvSpPr/>
          <p:nvPr/>
        </p:nvSpPr>
        <p:spPr>
          <a:xfrm flipV="1">
            <a:off x="1051560" y="1737360"/>
            <a:ext cx="1600200" cy="1188720"/>
          </a:xfrm>
          <a:prstGeom prst="line">
            <a:avLst/>
          </a:prstGeom>
          <a:noFill/>
          <a:ln w="31750">
            <a:solidFill>
              <a:schemeClr val="accent6"/>
            </a:solidFill>
            <a:prstDash val="solid"/>
          </a:ln>
        </p:spPr>
      </p:sp>
      <p:sp>
        <p:nvSpPr>
          <p:cNvPr id="6" name="Shape 3"/>
          <p:cNvSpPr/>
          <p:nvPr/>
        </p:nvSpPr>
        <p:spPr>
          <a:xfrm>
            <a:off x="1051560" y="2926080"/>
            <a:ext cx="1600200" cy="1188720"/>
          </a:xfrm>
          <a:prstGeom prst="line">
            <a:avLst/>
          </a:prstGeom>
          <a:noFill/>
          <a:ln w="31750">
            <a:solidFill>
              <a:schemeClr val="accent6"/>
            </a:solidFill>
            <a:prstDash val="solid"/>
          </a:ln>
        </p:spPr>
      </p:sp>
      <p:sp>
        <p:nvSpPr>
          <p:cNvPr id="7" name="Shape 4"/>
          <p:cNvSpPr/>
          <p:nvPr/>
        </p:nvSpPr>
        <p:spPr>
          <a:xfrm flipV="1">
            <a:off x="2651760" y="1737360"/>
            <a:ext cx="0" cy="2377440"/>
          </a:xfrm>
          <a:prstGeom prst="line">
            <a:avLst/>
          </a:prstGeom>
          <a:noFill/>
          <a:ln w="31750">
            <a:solidFill>
              <a:schemeClr val="accent6"/>
            </a:solidFill>
            <a:prstDash val="solid"/>
          </a:ln>
        </p:spPr>
      </p:sp>
      <p:sp>
        <p:nvSpPr>
          <p:cNvPr id="8" name="Shape 5"/>
          <p:cNvSpPr/>
          <p:nvPr/>
        </p:nvSpPr>
        <p:spPr>
          <a:xfrm flipV="1">
            <a:off x="2651760" y="2606040"/>
            <a:ext cx="1508760" cy="1508760"/>
          </a:xfrm>
          <a:prstGeom prst="line">
            <a:avLst/>
          </a:prstGeom>
          <a:noFill/>
          <a:ln w="31750">
            <a:solidFill>
              <a:schemeClr val="accent6"/>
            </a:solidFill>
            <a:prstDash val="solid"/>
          </a:ln>
        </p:spPr>
      </p:sp>
      <p:sp>
        <p:nvSpPr>
          <p:cNvPr id="9" name="Shape 6"/>
          <p:cNvSpPr/>
          <p:nvPr/>
        </p:nvSpPr>
        <p:spPr>
          <a:xfrm>
            <a:off x="2651760" y="1737360"/>
            <a:ext cx="1508760" cy="868680"/>
          </a:xfrm>
          <a:prstGeom prst="line">
            <a:avLst/>
          </a:prstGeom>
          <a:noFill/>
          <a:ln w="31750">
            <a:solidFill>
              <a:schemeClr val="accent6"/>
            </a:solidFill>
            <a:prstDash val="solid"/>
          </a:ln>
        </p:spPr>
      </p:sp>
      <p:sp>
        <p:nvSpPr>
          <p:cNvPr id="10" name="Shape 7"/>
          <p:cNvSpPr/>
          <p:nvPr/>
        </p:nvSpPr>
        <p:spPr>
          <a:xfrm>
            <a:off x="4160520" y="2606040"/>
            <a:ext cx="731520" cy="1508760"/>
          </a:xfrm>
          <a:prstGeom prst="line">
            <a:avLst/>
          </a:prstGeom>
          <a:noFill/>
          <a:ln w="31750">
            <a:solidFill>
              <a:schemeClr val="accent6"/>
            </a:solidFill>
            <a:prstDash val="solid"/>
          </a:ln>
        </p:spPr>
      </p:sp>
      <p:sp>
        <p:nvSpPr>
          <p:cNvPr id="11" name="node-Chennai"/>
          <p:cNvSpPr/>
          <p:nvPr/>
        </p:nvSpPr>
        <p:spPr>
          <a:xfrm>
            <a:off x="502920" y="2715768"/>
            <a:ext cx="1097280" cy="420624"/>
          </a:xfrm>
          <a:prstGeom prst="roundRect">
            <a:avLst>
              <a:gd name="adj" fmla="val 21739"/>
            </a:avLst>
          </a:prstGeom>
          <a:solidFill>
            <a:schemeClr val="tx2"/>
          </a:solidFill>
          <a:ln/>
        </p:spPr>
      </p:sp>
      <p:sp>
        <p:nvSpPr>
          <p:cNvPr id="12" name="Text 9"/>
          <p:cNvSpPr txBox="1"/>
          <p:nvPr/>
        </p:nvSpPr>
        <p:spPr>
          <a:xfrm>
            <a:off x="502920" y="2715768"/>
            <a:ext cx="1097280" cy="420624"/>
          </a:xfrm>
          <a:prstGeom prst="rect">
            <a:avLst/>
          </a:prstGeom>
          <a:noFill/>
          <a:ln/>
        </p:spPr>
        <p:txBody>
          <a:bodyPr wrap="square" lIns="0" tIns="0" rIns="0" bIns="0" rtlCol="0" anchor="ctr"/>
          <a:lstStyle/>
          <a:p>
            <a:pPr marL="0" indent="0" algn="ctr">
              <a:buNone/>
            </a:pPr>
            <a:r>
              <a:rPr lang="en-US" sz="1400" b="1" dirty="0">
                <a:solidFill>
                  <a:schemeClr val="bg1"/>
                </a:solidFill>
              </a:rPr>
              <a:t>Chennai</a:t>
            </a:r>
            <a:endParaRPr lang="en-US" sz="1400" dirty="0"/>
          </a:p>
        </p:txBody>
      </p:sp>
      <p:sp>
        <p:nvSpPr>
          <p:cNvPr id="13" name="node-Hyderabad"/>
          <p:cNvSpPr/>
          <p:nvPr/>
        </p:nvSpPr>
        <p:spPr>
          <a:xfrm>
            <a:off x="2103120" y="1527048"/>
            <a:ext cx="1097280" cy="420624"/>
          </a:xfrm>
          <a:prstGeom prst="roundRect">
            <a:avLst>
              <a:gd name="adj" fmla="val 21739"/>
            </a:avLst>
          </a:prstGeom>
          <a:solidFill>
            <a:schemeClr val="tx2"/>
          </a:solidFill>
          <a:ln/>
        </p:spPr>
      </p:sp>
      <p:sp>
        <p:nvSpPr>
          <p:cNvPr id="14" name="Text 11"/>
          <p:cNvSpPr txBox="1"/>
          <p:nvPr/>
        </p:nvSpPr>
        <p:spPr>
          <a:xfrm>
            <a:off x="2103120" y="1527048"/>
            <a:ext cx="1097280" cy="420624"/>
          </a:xfrm>
          <a:prstGeom prst="rect">
            <a:avLst/>
          </a:prstGeom>
          <a:noFill/>
          <a:ln/>
        </p:spPr>
        <p:txBody>
          <a:bodyPr wrap="square" lIns="0" tIns="0" rIns="0" bIns="0" rtlCol="0" anchor="ctr"/>
          <a:lstStyle/>
          <a:p>
            <a:pPr marL="0" indent="0" algn="ctr">
              <a:buNone/>
            </a:pPr>
            <a:r>
              <a:rPr lang="en-US" sz="1400" b="1" dirty="0">
                <a:solidFill>
                  <a:schemeClr val="bg1"/>
                </a:solidFill>
              </a:rPr>
              <a:t>Hyderabad</a:t>
            </a:r>
            <a:endParaRPr lang="en-US" sz="1400" dirty="0"/>
          </a:p>
        </p:txBody>
      </p:sp>
      <p:sp>
        <p:nvSpPr>
          <p:cNvPr id="15" name="node-Bengaluru"/>
          <p:cNvSpPr/>
          <p:nvPr/>
        </p:nvSpPr>
        <p:spPr>
          <a:xfrm>
            <a:off x="2103120" y="3904488"/>
            <a:ext cx="1097280" cy="420624"/>
          </a:xfrm>
          <a:prstGeom prst="roundRect">
            <a:avLst>
              <a:gd name="adj" fmla="val 21739"/>
            </a:avLst>
          </a:prstGeom>
          <a:solidFill>
            <a:schemeClr val="tx2"/>
          </a:solidFill>
          <a:ln/>
        </p:spPr>
      </p:sp>
      <p:sp>
        <p:nvSpPr>
          <p:cNvPr id="16" name="Text 13"/>
          <p:cNvSpPr txBox="1"/>
          <p:nvPr/>
        </p:nvSpPr>
        <p:spPr>
          <a:xfrm>
            <a:off x="2103120" y="3904488"/>
            <a:ext cx="1097280" cy="420624"/>
          </a:xfrm>
          <a:prstGeom prst="rect">
            <a:avLst/>
          </a:prstGeom>
          <a:noFill/>
          <a:ln/>
        </p:spPr>
        <p:txBody>
          <a:bodyPr wrap="square" lIns="0" tIns="0" rIns="0" bIns="0" rtlCol="0" anchor="ctr"/>
          <a:lstStyle/>
          <a:p>
            <a:pPr marL="0" indent="0" algn="ctr">
              <a:buNone/>
            </a:pPr>
            <a:r>
              <a:rPr lang="en-US" sz="1400" b="1" dirty="0">
                <a:solidFill>
                  <a:schemeClr val="bg1"/>
                </a:solidFill>
              </a:rPr>
              <a:t>Bengaluru</a:t>
            </a:r>
            <a:endParaRPr lang="en-US" sz="1400" dirty="0"/>
          </a:p>
        </p:txBody>
      </p:sp>
      <p:sp>
        <p:nvSpPr>
          <p:cNvPr id="17" name="node-Pune"/>
          <p:cNvSpPr/>
          <p:nvPr/>
        </p:nvSpPr>
        <p:spPr>
          <a:xfrm>
            <a:off x="3611880" y="2395728"/>
            <a:ext cx="1097280" cy="420624"/>
          </a:xfrm>
          <a:prstGeom prst="roundRect">
            <a:avLst>
              <a:gd name="adj" fmla="val 21739"/>
            </a:avLst>
          </a:prstGeom>
          <a:solidFill>
            <a:schemeClr val="tx2"/>
          </a:solidFill>
          <a:ln/>
        </p:spPr>
      </p:sp>
      <p:sp>
        <p:nvSpPr>
          <p:cNvPr id="18" name="Text 15"/>
          <p:cNvSpPr txBox="1"/>
          <p:nvPr/>
        </p:nvSpPr>
        <p:spPr>
          <a:xfrm>
            <a:off x="3611880" y="2395728"/>
            <a:ext cx="1097280" cy="420624"/>
          </a:xfrm>
          <a:prstGeom prst="rect">
            <a:avLst/>
          </a:prstGeom>
          <a:noFill/>
          <a:ln/>
        </p:spPr>
        <p:txBody>
          <a:bodyPr wrap="square" lIns="0" tIns="0" rIns="0" bIns="0" rtlCol="0" anchor="ctr"/>
          <a:lstStyle/>
          <a:p>
            <a:pPr marL="0" indent="0" algn="ctr">
              <a:buNone/>
            </a:pPr>
            <a:r>
              <a:rPr lang="en-US" sz="1400" b="1" dirty="0">
                <a:solidFill>
                  <a:schemeClr val="bg1"/>
                </a:solidFill>
              </a:rPr>
              <a:t>Pune</a:t>
            </a:r>
            <a:endParaRPr lang="en-US" sz="1400" dirty="0"/>
          </a:p>
        </p:txBody>
      </p:sp>
      <p:sp>
        <p:nvSpPr>
          <p:cNvPr id="19" name="node-Mumbai"/>
          <p:cNvSpPr/>
          <p:nvPr/>
        </p:nvSpPr>
        <p:spPr>
          <a:xfrm>
            <a:off x="4343400" y="3904488"/>
            <a:ext cx="1097280" cy="420624"/>
          </a:xfrm>
          <a:prstGeom prst="roundRect">
            <a:avLst>
              <a:gd name="adj" fmla="val 21739"/>
            </a:avLst>
          </a:prstGeom>
          <a:solidFill>
            <a:schemeClr val="tx2"/>
          </a:solidFill>
          <a:ln/>
        </p:spPr>
      </p:sp>
      <p:sp>
        <p:nvSpPr>
          <p:cNvPr id="20" name="Text 17"/>
          <p:cNvSpPr txBox="1"/>
          <p:nvPr/>
        </p:nvSpPr>
        <p:spPr>
          <a:xfrm>
            <a:off x="4343400" y="3904488"/>
            <a:ext cx="1097280" cy="420624"/>
          </a:xfrm>
          <a:prstGeom prst="rect">
            <a:avLst/>
          </a:prstGeom>
          <a:noFill/>
          <a:ln/>
        </p:spPr>
        <p:txBody>
          <a:bodyPr wrap="square" lIns="0" tIns="0" rIns="0" bIns="0" rtlCol="0" anchor="ctr"/>
          <a:lstStyle/>
          <a:p>
            <a:pPr marL="0" indent="0" algn="ctr">
              <a:buNone/>
            </a:pPr>
            <a:r>
              <a:rPr lang="en-US" sz="1400" b="1" dirty="0">
                <a:solidFill>
                  <a:schemeClr val="bg1"/>
                </a:solidFill>
              </a:rPr>
              <a:t>Mumbai</a:t>
            </a:r>
            <a:endParaRPr lang="en-US" sz="1400" dirty="0"/>
          </a:p>
        </p:txBody>
      </p:sp>
      <p:sp>
        <p:nvSpPr>
          <p:cNvPr id="21" name="wbg-Chennai-Hyderabad"/>
          <p:cNvSpPr/>
          <p:nvPr/>
        </p:nvSpPr>
        <p:spPr>
          <a:xfrm>
            <a:off x="1604772" y="2212848"/>
            <a:ext cx="493776" cy="237744"/>
          </a:xfrm>
          <a:prstGeom prst="rect">
            <a:avLst/>
          </a:prstGeom>
          <a:solidFill>
            <a:schemeClr val="bg1"/>
          </a:solidFill>
          <a:ln/>
        </p:spPr>
      </p:sp>
      <p:sp>
        <p:nvSpPr>
          <p:cNvPr id="22" name="Text 19"/>
          <p:cNvSpPr txBox="1"/>
          <p:nvPr/>
        </p:nvSpPr>
        <p:spPr>
          <a:xfrm>
            <a:off x="1604772" y="2212848"/>
            <a:ext cx="493776" cy="237744"/>
          </a:xfrm>
          <a:prstGeom prst="rect">
            <a:avLst/>
          </a:prstGeom>
          <a:noFill/>
          <a:ln/>
        </p:spPr>
        <p:txBody>
          <a:bodyPr wrap="square" lIns="0" tIns="0" rIns="0" bIns="0" rtlCol="0" anchor="ctr"/>
          <a:lstStyle/>
          <a:p>
            <a:pPr marL="0" indent="0" algn="ctr">
              <a:buNone/>
            </a:pPr>
            <a:r>
              <a:rPr lang="en-US" sz="1200" b="1" dirty="0">
                <a:solidFill>
                  <a:schemeClr val="accent4"/>
                </a:solidFill>
              </a:rPr>
              <a:t>630</a:t>
            </a:r>
            <a:endParaRPr lang="en-US" sz="1200" dirty="0"/>
          </a:p>
        </p:txBody>
      </p:sp>
      <p:sp>
        <p:nvSpPr>
          <p:cNvPr id="23" name="wbg-Chennai-Bengaluru"/>
          <p:cNvSpPr/>
          <p:nvPr/>
        </p:nvSpPr>
        <p:spPr>
          <a:xfrm>
            <a:off x="1604772" y="3401568"/>
            <a:ext cx="493776" cy="237744"/>
          </a:xfrm>
          <a:prstGeom prst="rect">
            <a:avLst/>
          </a:prstGeom>
          <a:solidFill>
            <a:schemeClr val="bg1"/>
          </a:solidFill>
          <a:ln/>
        </p:spPr>
      </p:sp>
      <p:sp>
        <p:nvSpPr>
          <p:cNvPr id="24" name="Text 21"/>
          <p:cNvSpPr txBox="1"/>
          <p:nvPr/>
        </p:nvSpPr>
        <p:spPr>
          <a:xfrm>
            <a:off x="1604772" y="3401568"/>
            <a:ext cx="493776" cy="237744"/>
          </a:xfrm>
          <a:prstGeom prst="rect">
            <a:avLst/>
          </a:prstGeom>
          <a:noFill/>
          <a:ln/>
        </p:spPr>
        <p:txBody>
          <a:bodyPr wrap="square" lIns="0" tIns="0" rIns="0" bIns="0" rtlCol="0" anchor="ctr"/>
          <a:lstStyle/>
          <a:p>
            <a:pPr marL="0" indent="0" algn="ctr">
              <a:buNone/>
            </a:pPr>
            <a:r>
              <a:rPr lang="en-US" sz="1200" b="1" dirty="0">
                <a:solidFill>
                  <a:schemeClr val="accent4"/>
                </a:solidFill>
              </a:rPr>
              <a:t>350</a:t>
            </a:r>
            <a:endParaRPr lang="en-US" sz="1200" dirty="0"/>
          </a:p>
        </p:txBody>
      </p:sp>
      <p:sp>
        <p:nvSpPr>
          <p:cNvPr id="25" name="wbg-Bengaluru-Hyderabad"/>
          <p:cNvSpPr/>
          <p:nvPr/>
        </p:nvSpPr>
        <p:spPr>
          <a:xfrm>
            <a:off x="2404872" y="2807208"/>
            <a:ext cx="493776" cy="237744"/>
          </a:xfrm>
          <a:prstGeom prst="rect">
            <a:avLst/>
          </a:prstGeom>
          <a:solidFill>
            <a:schemeClr val="bg1"/>
          </a:solidFill>
          <a:ln/>
        </p:spPr>
      </p:sp>
      <p:sp>
        <p:nvSpPr>
          <p:cNvPr id="26" name="Text 23"/>
          <p:cNvSpPr txBox="1"/>
          <p:nvPr/>
        </p:nvSpPr>
        <p:spPr>
          <a:xfrm>
            <a:off x="2404872" y="2807208"/>
            <a:ext cx="493776" cy="237744"/>
          </a:xfrm>
          <a:prstGeom prst="rect">
            <a:avLst/>
          </a:prstGeom>
          <a:noFill/>
          <a:ln/>
        </p:spPr>
        <p:txBody>
          <a:bodyPr wrap="square" lIns="0" tIns="0" rIns="0" bIns="0" rtlCol="0" anchor="ctr"/>
          <a:lstStyle/>
          <a:p>
            <a:pPr marL="0" indent="0" algn="ctr">
              <a:buNone/>
            </a:pPr>
            <a:r>
              <a:rPr lang="en-US" sz="1200" b="1" dirty="0">
                <a:solidFill>
                  <a:schemeClr val="accent4"/>
                </a:solidFill>
              </a:rPr>
              <a:t>570</a:t>
            </a:r>
            <a:endParaRPr lang="en-US" sz="1200" dirty="0"/>
          </a:p>
        </p:txBody>
      </p:sp>
      <p:sp>
        <p:nvSpPr>
          <p:cNvPr id="27" name="wbg-Bengaluru-Pune"/>
          <p:cNvSpPr/>
          <p:nvPr/>
        </p:nvSpPr>
        <p:spPr>
          <a:xfrm>
            <a:off x="3159252" y="3241548"/>
            <a:ext cx="493776" cy="237744"/>
          </a:xfrm>
          <a:prstGeom prst="rect">
            <a:avLst/>
          </a:prstGeom>
          <a:solidFill>
            <a:schemeClr val="bg1"/>
          </a:solidFill>
          <a:ln/>
        </p:spPr>
      </p:sp>
      <p:sp>
        <p:nvSpPr>
          <p:cNvPr id="28" name="Text 25"/>
          <p:cNvSpPr txBox="1"/>
          <p:nvPr/>
        </p:nvSpPr>
        <p:spPr>
          <a:xfrm>
            <a:off x="3159252" y="3241548"/>
            <a:ext cx="493776" cy="237744"/>
          </a:xfrm>
          <a:prstGeom prst="rect">
            <a:avLst/>
          </a:prstGeom>
          <a:noFill/>
          <a:ln/>
        </p:spPr>
        <p:txBody>
          <a:bodyPr wrap="square" lIns="0" tIns="0" rIns="0" bIns="0" rtlCol="0" anchor="ctr"/>
          <a:lstStyle/>
          <a:p>
            <a:pPr marL="0" indent="0" algn="ctr">
              <a:buNone/>
            </a:pPr>
            <a:r>
              <a:rPr lang="en-US" sz="1200" b="1" dirty="0">
                <a:solidFill>
                  <a:schemeClr val="accent4"/>
                </a:solidFill>
              </a:rPr>
              <a:t>850</a:t>
            </a:r>
            <a:endParaRPr lang="en-US" sz="1200" dirty="0"/>
          </a:p>
        </p:txBody>
      </p:sp>
      <p:sp>
        <p:nvSpPr>
          <p:cNvPr id="29" name="wbg-Hyderabad-Pune"/>
          <p:cNvSpPr/>
          <p:nvPr/>
        </p:nvSpPr>
        <p:spPr>
          <a:xfrm>
            <a:off x="3159252" y="2052828"/>
            <a:ext cx="493776" cy="237744"/>
          </a:xfrm>
          <a:prstGeom prst="rect">
            <a:avLst/>
          </a:prstGeom>
          <a:solidFill>
            <a:schemeClr val="bg1"/>
          </a:solidFill>
          <a:ln/>
        </p:spPr>
      </p:sp>
      <p:sp>
        <p:nvSpPr>
          <p:cNvPr id="30" name="Text 27"/>
          <p:cNvSpPr txBox="1"/>
          <p:nvPr/>
        </p:nvSpPr>
        <p:spPr>
          <a:xfrm>
            <a:off x="3159252" y="2052828"/>
            <a:ext cx="493776" cy="237744"/>
          </a:xfrm>
          <a:prstGeom prst="rect">
            <a:avLst/>
          </a:prstGeom>
          <a:noFill/>
          <a:ln/>
        </p:spPr>
        <p:txBody>
          <a:bodyPr wrap="square" lIns="0" tIns="0" rIns="0" bIns="0" rtlCol="0" anchor="ctr"/>
          <a:lstStyle/>
          <a:p>
            <a:pPr marL="0" indent="0" algn="ctr">
              <a:buNone/>
            </a:pPr>
            <a:r>
              <a:rPr lang="en-US" sz="1200" b="1" dirty="0">
                <a:solidFill>
                  <a:schemeClr val="accent4"/>
                </a:solidFill>
              </a:rPr>
              <a:t>560</a:t>
            </a:r>
            <a:endParaRPr lang="en-US" sz="1200" dirty="0"/>
          </a:p>
        </p:txBody>
      </p:sp>
      <p:sp>
        <p:nvSpPr>
          <p:cNvPr id="31" name="wbg-Pune-Mumbai"/>
          <p:cNvSpPr/>
          <p:nvPr/>
        </p:nvSpPr>
        <p:spPr>
          <a:xfrm>
            <a:off x="4279392" y="3241548"/>
            <a:ext cx="493776" cy="237744"/>
          </a:xfrm>
          <a:prstGeom prst="rect">
            <a:avLst/>
          </a:prstGeom>
          <a:solidFill>
            <a:schemeClr val="bg1"/>
          </a:solidFill>
          <a:ln/>
        </p:spPr>
      </p:sp>
      <p:sp>
        <p:nvSpPr>
          <p:cNvPr id="32" name="Text 29"/>
          <p:cNvSpPr txBox="1"/>
          <p:nvPr/>
        </p:nvSpPr>
        <p:spPr>
          <a:xfrm>
            <a:off x="4279392" y="3241548"/>
            <a:ext cx="493776" cy="237744"/>
          </a:xfrm>
          <a:prstGeom prst="rect">
            <a:avLst/>
          </a:prstGeom>
          <a:noFill/>
          <a:ln/>
        </p:spPr>
        <p:txBody>
          <a:bodyPr wrap="square" lIns="0" tIns="0" rIns="0" bIns="0" rtlCol="0" anchor="ctr"/>
          <a:lstStyle/>
          <a:p>
            <a:pPr marL="0" indent="0" algn="ctr">
              <a:buNone/>
            </a:pPr>
            <a:r>
              <a:rPr lang="en-US" sz="1200" b="1" dirty="0">
                <a:solidFill>
                  <a:schemeClr val="accent4"/>
                </a:solidFill>
              </a:rPr>
              <a:t>150</a:t>
            </a:r>
            <a:endParaRPr lang="en-US" sz="1200" dirty="0"/>
          </a:p>
        </p:txBody>
      </p:sp>
      <p:sp>
        <p:nvSpPr>
          <p:cNvPr id="33" name="Text 30"/>
          <p:cNvSpPr txBox="1"/>
          <p:nvPr/>
        </p:nvSpPr>
        <p:spPr>
          <a:xfrm>
            <a:off x="457200" y="4462272"/>
            <a:ext cx="5029200" cy="228600"/>
          </a:xfrm>
          <a:prstGeom prst="rect">
            <a:avLst/>
          </a:prstGeom>
          <a:noFill/>
          <a:ln/>
        </p:spPr>
        <p:txBody>
          <a:bodyPr wrap="square" lIns="0" tIns="0" rIns="0" bIns="0" rtlCol="0" anchor="t"/>
          <a:lstStyle/>
          <a:p>
            <a:pPr marL="0" indent="0">
              <a:buNone/>
            </a:pPr>
            <a:r>
              <a:rPr lang="en-US" sz="1200" i="1" dirty="0">
                <a:solidFill>
                  <a:schemeClr val="accent6"/>
                </a:solidFill>
              </a:rPr>
              <a:t>Illustrative road distances in km</a:t>
            </a:r>
            <a:endParaRPr lang="en-US" sz="1200" dirty="0"/>
          </a:p>
        </p:txBody>
      </p:sp>
      <p:sp>
        <p:nvSpPr>
          <p:cNvPr id="34" name="role-0"/>
          <p:cNvSpPr/>
          <p:nvPr/>
        </p:nvSpPr>
        <p:spPr>
          <a:xfrm>
            <a:off x="5852160" y="1371600"/>
            <a:ext cx="2834640" cy="960120"/>
          </a:xfrm>
          <a:prstGeom prst="roundRect">
            <a:avLst>
              <a:gd name="adj" fmla="val 7619"/>
            </a:avLst>
          </a:prstGeom>
          <a:solidFill>
            <a:schemeClr val="bg2"/>
          </a:solidFill>
          <a:ln/>
        </p:spPr>
      </p:sp>
      <p:sp>
        <p:nvSpPr>
          <p:cNvPr id="35" name="Text 32"/>
          <p:cNvSpPr txBox="1"/>
          <p:nvPr/>
        </p:nvSpPr>
        <p:spPr>
          <a:xfrm>
            <a:off x="6035040" y="1463040"/>
            <a:ext cx="2468880" cy="256032"/>
          </a:xfrm>
          <a:prstGeom prst="rect">
            <a:avLst/>
          </a:prstGeom>
          <a:noFill/>
          <a:ln/>
        </p:spPr>
        <p:txBody>
          <a:bodyPr wrap="square" lIns="0" tIns="0" rIns="0" bIns="0" rtlCol="0" anchor="t"/>
          <a:lstStyle/>
          <a:p>
            <a:pPr marL="0" indent="0">
              <a:buNone/>
            </a:pPr>
            <a:r>
              <a:rPr lang="en-US" sz="1400" b="1" dirty="0">
                <a:solidFill>
                  <a:schemeClr val="tx2"/>
                </a:solidFill>
              </a:rPr>
              <a:t>Cities</a:t>
            </a:r>
            <a:endParaRPr lang="en-US" sz="1400" dirty="0"/>
          </a:p>
        </p:txBody>
      </p:sp>
      <p:sp>
        <p:nvSpPr>
          <p:cNvPr id="36" name="Text 33"/>
          <p:cNvSpPr txBox="1"/>
          <p:nvPr/>
        </p:nvSpPr>
        <p:spPr>
          <a:xfrm>
            <a:off x="6035040" y="1737360"/>
            <a:ext cx="2468880" cy="548640"/>
          </a:xfrm>
          <a:prstGeom prst="rect">
            <a:avLst/>
          </a:prstGeom>
          <a:noFill/>
          <a:ln/>
        </p:spPr>
        <p:txBody>
          <a:bodyPr wrap="square" lIns="0" tIns="0" rIns="0" bIns="0" rtlCol="0" anchor="t"/>
          <a:lstStyle/>
          <a:p>
            <a:pPr marL="0" indent="0">
              <a:buNone/>
            </a:pPr>
            <a:r>
              <a:rPr lang="en-US" sz="1400" dirty="0">
                <a:solidFill>
                  <a:schemeClr val="tx1"/>
                </a:solidFill>
              </a:rPr>
              <a:t>Each city is a vertex (node).</a:t>
            </a:r>
            <a:endParaRPr lang="en-US" sz="1400" dirty="0"/>
          </a:p>
        </p:txBody>
      </p:sp>
      <p:sp>
        <p:nvSpPr>
          <p:cNvPr id="37" name="role-1"/>
          <p:cNvSpPr/>
          <p:nvPr/>
        </p:nvSpPr>
        <p:spPr>
          <a:xfrm>
            <a:off x="5852160" y="2468880"/>
            <a:ext cx="2834640" cy="960120"/>
          </a:xfrm>
          <a:prstGeom prst="roundRect">
            <a:avLst>
              <a:gd name="adj" fmla="val 7619"/>
            </a:avLst>
          </a:prstGeom>
          <a:solidFill>
            <a:schemeClr val="bg2"/>
          </a:solidFill>
          <a:ln/>
        </p:spPr>
      </p:sp>
      <p:sp>
        <p:nvSpPr>
          <p:cNvPr id="38" name="Text 35"/>
          <p:cNvSpPr txBox="1"/>
          <p:nvPr/>
        </p:nvSpPr>
        <p:spPr>
          <a:xfrm>
            <a:off x="6035040" y="2560320"/>
            <a:ext cx="2468880" cy="256032"/>
          </a:xfrm>
          <a:prstGeom prst="rect">
            <a:avLst/>
          </a:prstGeom>
          <a:noFill/>
          <a:ln/>
        </p:spPr>
        <p:txBody>
          <a:bodyPr wrap="square" lIns="0" tIns="0" rIns="0" bIns="0" rtlCol="0" anchor="t"/>
          <a:lstStyle/>
          <a:p>
            <a:pPr marL="0" indent="0">
              <a:buNone/>
            </a:pPr>
            <a:r>
              <a:rPr lang="en-US" sz="1400" b="1" dirty="0">
                <a:solidFill>
                  <a:schemeClr val="tx2"/>
                </a:solidFill>
              </a:rPr>
              <a:t>Roads</a:t>
            </a:r>
            <a:endParaRPr lang="en-US" sz="1400" dirty="0"/>
          </a:p>
        </p:txBody>
      </p:sp>
      <p:sp>
        <p:nvSpPr>
          <p:cNvPr id="39" name="Text 36"/>
          <p:cNvSpPr txBox="1"/>
          <p:nvPr/>
        </p:nvSpPr>
        <p:spPr>
          <a:xfrm>
            <a:off x="6035040" y="2834640"/>
            <a:ext cx="2468880" cy="548640"/>
          </a:xfrm>
          <a:prstGeom prst="rect">
            <a:avLst/>
          </a:prstGeom>
          <a:noFill/>
          <a:ln/>
        </p:spPr>
        <p:txBody>
          <a:bodyPr wrap="square" lIns="0" tIns="0" rIns="0" bIns="0" rtlCol="0" anchor="t"/>
          <a:lstStyle/>
          <a:p>
            <a:pPr marL="0" indent="0">
              <a:buNone/>
            </a:pPr>
            <a:r>
              <a:rPr lang="en-US" sz="1400" dirty="0">
                <a:solidFill>
                  <a:schemeClr val="tx1"/>
                </a:solidFill>
              </a:rPr>
              <a:t>Each road is an edge with a weight: distance or time.</a:t>
            </a:r>
            <a:endParaRPr lang="en-US" sz="1400" dirty="0"/>
          </a:p>
        </p:txBody>
      </p:sp>
      <p:sp>
        <p:nvSpPr>
          <p:cNvPr id="40" name="role-2"/>
          <p:cNvSpPr/>
          <p:nvPr/>
        </p:nvSpPr>
        <p:spPr>
          <a:xfrm>
            <a:off x="5852160" y="3566160"/>
            <a:ext cx="2834640" cy="960120"/>
          </a:xfrm>
          <a:prstGeom prst="roundRect">
            <a:avLst>
              <a:gd name="adj" fmla="val 7619"/>
            </a:avLst>
          </a:prstGeom>
          <a:solidFill>
            <a:schemeClr val="accent2"/>
          </a:solidFill>
          <a:ln/>
        </p:spPr>
      </p:sp>
      <p:sp>
        <p:nvSpPr>
          <p:cNvPr id="41" name="Text 38"/>
          <p:cNvSpPr txBox="1"/>
          <p:nvPr/>
        </p:nvSpPr>
        <p:spPr>
          <a:xfrm>
            <a:off x="6035040" y="3657600"/>
            <a:ext cx="2468880" cy="256032"/>
          </a:xfrm>
          <a:prstGeom prst="rect">
            <a:avLst/>
          </a:prstGeom>
          <a:noFill/>
          <a:ln/>
        </p:spPr>
        <p:txBody>
          <a:bodyPr wrap="square" lIns="0" tIns="0" rIns="0" bIns="0" rtlCol="0" anchor="t"/>
          <a:lstStyle/>
          <a:p>
            <a:pPr marL="0" indent="0">
              <a:buNone/>
            </a:pPr>
            <a:r>
              <a:rPr lang="en-US" sz="1400" b="1" dirty="0">
                <a:solidFill>
                  <a:schemeClr val="tx2"/>
                </a:solidFill>
              </a:rPr>
              <a:t>Why not linear?</a:t>
            </a:r>
            <a:endParaRPr lang="en-US" sz="1400" dirty="0"/>
          </a:p>
        </p:txBody>
      </p:sp>
      <p:sp>
        <p:nvSpPr>
          <p:cNvPr id="42" name="Text 39"/>
          <p:cNvSpPr txBox="1"/>
          <p:nvPr/>
        </p:nvSpPr>
        <p:spPr>
          <a:xfrm>
            <a:off x="6035040" y="3931920"/>
            <a:ext cx="2468880" cy="548640"/>
          </a:xfrm>
          <a:prstGeom prst="rect">
            <a:avLst/>
          </a:prstGeom>
          <a:noFill/>
          <a:ln/>
        </p:spPr>
        <p:txBody>
          <a:bodyPr wrap="square" lIns="0" tIns="0" rIns="0" bIns="0" rtlCol="0" anchor="t"/>
          <a:lstStyle/>
          <a:p>
            <a:pPr marL="0" indent="0">
              <a:buNone/>
            </a:pPr>
            <a:r>
              <a:rPr lang="en-US" sz="1400" dirty="0">
                <a:solidFill>
                  <a:schemeClr val="tx1"/>
                </a:solidFill>
              </a:rPr>
              <a:t>Lists and stacks cannot show many-to-many connections.</a:t>
            </a:r>
            <a:endParaRPr lang="en-US" sz="14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Representing the road network</a:t>
            </a:r>
            <a:endParaRPr lang="en-US" sz="3000" dirty="0"/>
          </a:p>
        </p:txBody>
      </p:sp>
      <p:sp>
        <p:nvSpPr>
          <p:cNvPr id="5" name="matrix-card"/>
          <p:cNvSpPr/>
          <p:nvPr/>
        </p:nvSpPr>
        <p:spPr>
          <a:xfrm>
            <a:off x="457200" y="1371600"/>
            <a:ext cx="4023360" cy="3154680"/>
          </a:xfrm>
          <a:prstGeom prst="roundRect">
            <a:avLst>
              <a:gd name="adj" fmla="val 2319"/>
            </a:avLst>
          </a:prstGeom>
          <a:solidFill>
            <a:schemeClr val="bg2"/>
          </a:solidFill>
          <a:ln/>
        </p:spPr>
      </p:sp>
      <p:sp>
        <p:nvSpPr>
          <p:cNvPr id="6" name="Text 3"/>
          <p:cNvSpPr txBox="1"/>
          <p:nvPr/>
        </p:nvSpPr>
        <p:spPr>
          <a:xfrm>
            <a:off x="640080" y="1481328"/>
            <a:ext cx="3657600" cy="320040"/>
          </a:xfrm>
          <a:prstGeom prst="rect">
            <a:avLst/>
          </a:prstGeom>
          <a:noFill/>
          <a:ln/>
        </p:spPr>
        <p:txBody>
          <a:bodyPr wrap="square" lIns="0" tIns="0" rIns="0" bIns="0" rtlCol="0" anchor="t"/>
          <a:lstStyle/>
          <a:p>
            <a:pPr marL="0" indent="0">
              <a:buNone/>
            </a:pPr>
            <a:r>
              <a:rPr lang="en-US" sz="1800" b="1" dirty="0">
                <a:solidFill>
                  <a:schemeClr val="tx2"/>
                </a:solidFill>
              </a:rPr>
              <a:t>Adjacency matrix</a:t>
            </a:r>
            <a:endParaRPr lang="en-US" sz="1800" dirty="0"/>
          </a:p>
        </p:txBody>
      </p:sp>
      <p:sp>
        <p:nvSpPr>
          <p:cNvPr id="7" name="Text 4"/>
          <p:cNvSpPr txBox="1"/>
          <p:nvPr/>
        </p:nvSpPr>
        <p:spPr>
          <a:xfrm>
            <a:off x="640080" y="1920240"/>
            <a:ext cx="36576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 x V table of distances</a:t>
            </a:r>
            <a:endParaRPr lang="en-US" sz="1400" dirty="0"/>
          </a:p>
          <a:p>
            <a:pPr marL="342900" indent="-342900">
              <a:spcAft>
                <a:spcPts val="800"/>
              </a:spcAft>
              <a:buSzPct val="100000"/>
              <a:buChar char="•"/>
            </a:pPr>
            <a:r>
              <a:rPr lang="en-US" sz="1400" dirty="0">
                <a:solidFill>
                  <a:schemeClr val="tx1"/>
                </a:solidFill>
              </a:rPr>
              <a:t>Space: O(V^2)</a:t>
            </a:r>
            <a:endParaRPr lang="en-US" sz="1400" dirty="0"/>
          </a:p>
          <a:p>
            <a:pPr marL="342900" indent="-342900">
              <a:spcAft>
                <a:spcPts val="800"/>
              </a:spcAft>
              <a:buSzPct val="100000"/>
              <a:buChar char="•"/>
            </a:pPr>
            <a:r>
              <a:rPr lang="en-US" sz="1400" dirty="0">
                <a:solidFill>
                  <a:schemeClr val="tx1"/>
                </a:solidFill>
              </a:rPr>
              <a:t>Is there a road? O(1)</a:t>
            </a:r>
            <a:endParaRPr lang="en-US" sz="1400" dirty="0"/>
          </a:p>
          <a:p>
            <a:pPr marL="342900" indent="-342900">
              <a:spcAft>
                <a:spcPts val="800"/>
              </a:spcAft>
              <a:buSzPct val="100000"/>
              <a:buChar char="•"/>
            </a:pPr>
            <a:r>
              <a:rPr lang="en-US" sz="1400" dirty="0">
                <a:solidFill>
                  <a:schemeClr val="tx1"/>
                </a:solidFill>
              </a:rPr>
              <a:t>List a city's roads: O(V)</a:t>
            </a:r>
            <a:endParaRPr lang="en-US" sz="1400" dirty="0"/>
          </a:p>
          <a:p>
            <a:pPr marL="342900" indent="-342900">
              <a:spcAft>
                <a:spcPts val="800"/>
              </a:spcAft>
              <a:buSzPct val="100000"/>
              <a:buChar char="•"/>
            </a:pPr>
            <a:r>
              <a:rPr lang="en-US" sz="1400" dirty="0">
                <a:solidFill>
                  <a:schemeClr val="tx1"/>
                </a:solidFill>
              </a:rPr>
              <a:t>Wastes memory: road maps are sparse</a:t>
            </a:r>
            <a:endParaRPr lang="en-US" sz="1400" dirty="0"/>
          </a:p>
        </p:txBody>
      </p:sp>
      <p:sp>
        <p:nvSpPr>
          <p:cNvPr id="8" name="list-card"/>
          <p:cNvSpPr/>
          <p:nvPr/>
        </p:nvSpPr>
        <p:spPr>
          <a:xfrm>
            <a:off x="4663440" y="1371600"/>
            <a:ext cx="4023360" cy="3154680"/>
          </a:xfrm>
          <a:prstGeom prst="roundRect">
            <a:avLst>
              <a:gd name="adj" fmla="val 2319"/>
            </a:avLst>
          </a:prstGeom>
          <a:solidFill>
            <a:schemeClr val="tx2"/>
          </a:solidFill>
          <a:ln/>
        </p:spPr>
      </p:sp>
      <p:sp>
        <p:nvSpPr>
          <p:cNvPr id="9" name="Text 6"/>
          <p:cNvSpPr txBox="1"/>
          <p:nvPr/>
        </p:nvSpPr>
        <p:spPr>
          <a:xfrm>
            <a:off x="4846320" y="1481328"/>
            <a:ext cx="3657600" cy="320040"/>
          </a:xfrm>
          <a:prstGeom prst="rect">
            <a:avLst/>
          </a:prstGeom>
          <a:noFill/>
          <a:ln/>
        </p:spPr>
        <p:txBody>
          <a:bodyPr wrap="square" lIns="0" tIns="0" rIns="0" bIns="0" rtlCol="0" anchor="t"/>
          <a:lstStyle/>
          <a:p>
            <a:pPr marL="0" indent="0">
              <a:buNone/>
            </a:pPr>
            <a:r>
              <a:rPr lang="en-US" sz="1800" b="1" dirty="0">
                <a:solidFill>
                  <a:schemeClr val="accent2"/>
                </a:solidFill>
              </a:rPr>
              <a:t>Adjacency list (chosen)</a:t>
            </a:r>
            <a:endParaRPr lang="en-US" sz="1800" dirty="0"/>
          </a:p>
        </p:txBody>
      </p:sp>
      <p:sp>
        <p:nvSpPr>
          <p:cNvPr id="10" name="Text 7"/>
          <p:cNvSpPr txBox="1"/>
          <p:nvPr/>
        </p:nvSpPr>
        <p:spPr>
          <a:xfrm>
            <a:off x="4846320" y="1920240"/>
            <a:ext cx="36576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Each city stores its neighbouring roads</a:t>
            </a:r>
            <a:endParaRPr lang="en-US" sz="1400" dirty="0"/>
          </a:p>
          <a:p>
            <a:pPr marL="342900" indent="-342900">
              <a:spcAft>
                <a:spcPts val="600"/>
              </a:spcAft>
              <a:buSzPct val="100000"/>
              <a:buChar char="•"/>
            </a:pPr>
            <a:r>
              <a:rPr lang="en-US" sz="1400" dirty="0">
                <a:solidFill>
                  <a:schemeClr val="bg1"/>
                </a:solidFill>
              </a:rPr>
              <a:t>Space: O(V + E)</a:t>
            </a:r>
            <a:endParaRPr lang="en-US" sz="1400" dirty="0"/>
          </a:p>
          <a:p>
            <a:pPr marL="342900" indent="-342900">
              <a:spcAft>
                <a:spcPts val="600"/>
              </a:spcAft>
              <a:buSzPct val="100000"/>
              <a:buChar char="•"/>
            </a:pPr>
            <a:r>
              <a:rPr lang="en-US" sz="1400" dirty="0">
                <a:solidFill>
                  <a:schemeClr val="bg1"/>
                </a:solidFill>
              </a:rPr>
              <a:t>List a city's roads: O(degree)</a:t>
            </a:r>
            <a:endParaRPr lang="en-US" sz="1400" dirty="0"/>
          </a:p>
          <a:p>
            <a:pPr marL="342900" indent="-342900">
              <a:spcAft>
                <a:spcPts val="600"/>
              </a:spcAft>
              <a:buSzPct val="100000"/>
              <a:buChar char="•"/>
            </a:pPr>
            <a:r>
              <a:rPr lang="en-US" sz="1400" dirty="0">
                <a:solidFill>
                  <a:schemeClr val="bg1"/>
                </a:solidFill>
              </a:rPr>
              <a:t>Fits sparse road networks</a:t>
            </a:r>
            <a:endParaRPr lang="en-US" sz="1400" dirty="0"/>
          </a:p>
        </p:txBody>
      </p:sp>
      <p:sp>
        <p:nvSpPr>
          <p:cNvPr id="11" name="list-snippet"/>
          <p:cNvSpPr/>
          <p:nvPr/>
        </p:nvSpPr>
        <p:spPr>
          <a:xfrm>
            <a:off x="4846320" y="3611880"/>
            <a:ext cx="3657600" cy="777240"/>
          </a:xfrm>
          <a:prstGeom prst="roundRect">
            <a:avLst>
              <a:gd name="adj" fmla="val 9412"/>
            </a:avLst>
          </a:prstGeom>
          <a:solidFill>
            <a:schemeClr val="accent1"/>
          </a:solidFill>
          <a:ln/>
        </p:spPr>
      </p:sp>
      <p:sp>
        <p:nvSpPr>
          <p:cNvPr id="12" name="Text 9"/>
          <p:cNvSpPr txBox="1"/>
          <p:nvPr/>
        </p:nvSpPr>
        <p:spPr>
          <a:xfrm>
            <a:off x="4937760" y="3675888"/>
            <a:ext cx="3520440" cy="685800"/>
          </a:xfrm>
          <a:prstGeom prst="rect">
            <a:avLst/>
          </a:prstGeom>
          <a:noFill/>
          <a:ln/>
        </p:spPr>
        <p:txBody>
          <a:bodyPr wrap="square" lIns="0" tIns="0" rIns="0" bIns="0" rtlCol="0" anchor="ctr"/>
          <a:lstStyle/>
          <a:p>
            <a:pPr marL="0" indent="0">
              <a:buNone/>
            </a:pPr>
            <a:r>
              <a:rPr lang="en-US" sz="1100" dirty="0">
                <a:solidFill>
                  <a:schemeClr val="bg1"/>
                </a:solidFill>
                <a:latin typeface="Courier New" pitchFamily="34" charset="0"/>
                <a:ea typeface="Courier New" pitchFamily="34" charset="-122"/>
                <a:cs typeface="Courier New" pitchFamily="34" charset="-120"/>
              </a:rPr>
              <a:t>Chennai   : Bengaluru, Hyderabad</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Hyderabad : Chennai, Bengaluru, Pune</a:t>
            </a:r>
            <a:endParaRPr lang="en-US" sz="1100" dirty="0"/>
          </a:p>
          <a:p>
            <a:pPr marL="0" indent="0">
              <a:buNone/>
            </a:pPr>
            <a:r>
              <a:rPr lang="en-US" sz="1100" dirty="0">
                <a:solidFill>
                  <a:schemeClr val="bg1"/>
                </a:solidFill>
                <a:latin typeface="Courier New" pitchFamily="34" charset="0"/>
                <a:ea typeface="Courier New" pitchFamily="34" charset="-122"/>
                <a:cs typeface="Courier New" pitchFamily="34" charset="-120"/>
              </a:rPr>
              <a:t>Pune      : Bengaluru, Hyderabad, Mumbai</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Shortest route: Dijkstra's algorithm</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120640" cy="1828800"/>
        </p:xfrm>
        <a:graphic>
          <a:graphicData uri="http://schemas.openxmlformats.org/drawingml/2006/table">
            <a:tbl>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365760">
                <a:tc>
                  <a:txBody>
                    <a:bodyPr/>
                    <a:lstStyle/>
                    <a:p>
                      <a:pPr marL="0" indent="0">
                        <a:buNone/>
                      </a:pPr>
                      <a:r>
                        <a:rPr lang="en-US" sz="1400" b="1" dirty="0">
                          <a:solidFill>
                            <a:schemeClr val="bg1"/>
                          </a:solidFill>
                        </a:rPr>
                        <a:t>From Chennai to</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km</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Route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buNone/>
                      </a:pPr>
                      <a:r>
                        <a:rPr lang="en-US" sz="1400" dirty="0">
                          <a:solidFill>
                            <a:schemeClr val="tx1"/>
                          </a:solidFill>
                        </a:rPr>
                        <a:t>Bengaluru</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350</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direct</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dirty="0">
                          <a:solidFill>
                            <a:schemeClr val="tx1"/>
                          </a:solidFill>
                        </a:rPr>
                        <a:t>Hyderabad</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630</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direct</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400" dirty="0">
                          <a:solidFill>
                            <a:schemeClr val="tx1"/>
                          </a:solidFill>
                        </a:rPr>
                        <a:t>Pune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1,190</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via Hyderabad</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400" b="1" dirty="0">
                          <a:solidFill>
                            <a:schemeClr val="tx1"/>
                          </a:solidFill>
                        </a:rPr>
                        <a:t>Mumbai</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b="1" dirty="0">
                          <a:solidFill>
                            <a:schemeClr val="accent4"/>
                          </a:solidFill>
                        </a:rPr>
                        <a:t>1,340</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b="1" dirty="0">
                          <a:solidFill>
                            <a:schemeClr val="tx1"/>
                          </a:solidFill>
                        </a:rPr>
                        <a:t>via Hyderabad, Pune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cx-heap"/>
          <p:cNvSpPr/>
          <p:nvPr/>
        </p:nvSpPr>
        <p:spPr>
          <a:xfrm>
            <a:off x="5852160" y="1325880"/>
            <a:ext cx="2834640" cy="822960"/>
          </a:xfrm>
          <a:prstGeom prst="roundRect">
            <a:avLst>
              <a:gd name="adj" fmla="val 8889"/>
            </a:avLst>
          </a:prstGeom>
          <a:solidFill>
            <a:schemeClr val="tx2"/>
          </a:solidFill>
          <a:ln/>
        </p:spPr>
      </p:sp>
      <p:sp>
        <p:nvSpPr>
          <p:cNvPr id="7" name="Text 3"/>
          <p:cNvSpPr txBox="1"/>
          <p:nvPr/>
        </p:nvSpPr>
        <p:spPr>
          <a:xfrm>
            <a:off x="6035040" y="1389888"/>
            <a:ext cx="2560320" cy="365760"/>
          </a:xfrm>
          <a:prstGeom prst="rect">
            <a:avLst/>
          </a:prstGeom>
          <a:noFill/>
          <a:ln/>
        </p:spPr>
        <p:txBody>
          <a:bodyPr wrap="square" lIns="0" tIns="0" rIns="0" bIns="0" rtlCol="0" anchor="t"/>
          <a:lstStyle/>
          <a:p>
            <a:pPr marL="0" indent="0">
              <a:buNone/>
            </a:pPr>
            <a:r>
              <a:rPr lang="en-US" sz="2000" b="1" dirty="0">
                <a:solidFill>
                  <a:schemeClr val="accent2"/>
                </a:solidFill>
                <a:latin typeface="Cambria" pitchFamily="34" charset="0"/>
                <a:ea typeface="Cambria" pitchFamily="34" charset="-122"/>
                <a:cs typeface="Cambria" pitchFamily="34" charset="-120"/>
              </a:rPr>
              <a:t>O((V + E) log V)</a:t>
            </a:r>
            <a:endParaRPr lang="en-US" sz="2000" dirty="0"/>
          </a:p>
        </p:txBody>
      </p:sp>
      <p:sp>
        <p:nvSpPr>
          <p:cNvPr id="4" name="Text 4"/>
          <p:cNvSpPr txBox="1"/>
          <p:nvPr/>
        </p:nvSpPr>
        <p:spPr>
          <a:xfrm>
            <a:off x="6035040" y="1783080"/>
            <a:ext cx="2560320" cy="274320"/>
          </a:xfrm>
          <a:prstGeom prst="rect">
            <a:avLst/>
          </a:prstGeom>
          <a:noFill/>
          <a:ln/>
        </p:spPr>
        <p:txBody>
          <a:bodyPr wrap="square" lIns="0" tIns="0" rIns="0" bIns="0" rtlCol="0" anchor="t"/>
          <a:lstStyle/>
          <a:p>
            <a:pPr marL="0" indent="0">
              <a:buNone/>
            </a:pPr>
            <a:r>
              <a:rPr lang="en-US" sz="1400" dirty="0">
                <a:solidFill>
                  <a:schemeClr val="bg1"/>
                </a:solidFill>
              </a:rPr>
              <a:t>with a min-heap priority queue</a:t>
            </a:r>
            <a:endParaRPr lang="en-US" sz="1400" dirty="0"/>
          </a:p>
        </p:txBody>
      </p:sp>
      <p:sp>
        <p:nvSpPr>
          <p:cNvPr id="9" name="cx-array"/>
          <p:cNvSpPr/>
          <p:nvPr/>
        </p:nvSpPr>
        <p:spPr>
          <a:xfrm>
            <a:off x="5852160" y="2331720"/>
            <a:ext cx="2834640" cy="822960"/>
          </a:xfrm>
          <a:prstGeom prst="roundRect">
            <a:avLst>
              <a:gd name="adj" fmla="val 8889"/>
            </a:avLst>
          </a:prstGeom>
          <a:solidFill>
            <a:schemeClr val="bg2"/>
          </a:solidFill>
          <a:ln/>
        </p:spPr>
      </p:sp>
      <p:sp>
        <p:nvSpPr>
          <p:cNvPr id="10" name="Text 6"/>
          <p:cNvSpPr txBox="1"/>
          <p:nvPr/>
        </p:nvSpPr>
        <p:spPr>
          <a:xfrm>
            <a:off x="6035040" y="2395728"/>
            <a:ext cx="2560320" cy="365760"/>
          </a:xfrm>
          <a:prstGeom prst="rect">
            <a:avLst/>
          </a:prstGeom>
          <a:noFill/>
          <a:ln/>
        </p:spPr>
        <p:txBody>
          <a:bodyPr wrap="square" lIns="0" tIns="0" rIns="0" bIns="0" rtlCol="0" anchor="t"/>
          <a:lstStyle/>
          <a:p>
            <a:pPr marL="0" indent="0">
              <a:buNone/>
            </a:pPr>
            <a:r>
              <a:rPr lang="en-US" sz="2000" b="1" dirty="0">
                <a:solidFill>
                  <a:schemeClr val="accent6"/>
                </a:solidFill>
                <a:latin typeface="Cambria" pitchFamily="34" charset="0"/>
                <a:ea typeface="Cambria" pitchFamily="34" charset="-122"/>
                <a:cs typeface="Cambria" pitchFamily="34" charset="-120"/>
              </a:rPr>
              <a:t>O(V^2)</a:t>
            </a:r>
            <a:endParaRPr lang="en-US" sz="2000" dirty="0"/>
          </a:p>
        </p:txBody>
      </p:sp>
      <p:sp>
        <p:nvSpPr>
          <p:cNvPr id="11" name="Text 7"/>
          <p:cNvSpPr txBox="1"/>
          <p:nvPr/>
        </p:nvSpPr>
        <p:spPr>
          <a:xfrm>
            <a:off x="6035040" y="2788920"/>
            <a:ext cx="2560320" cy="274320"/>
          </a:xfrm>
          <a:prstGeom prst="rect">
            <a:avLst/>
          </a:prstGeom>
          <a:noFill/>
          <a:ln/>
        </p:spPr>
        <p:txBody>
          <a:bodyPr wrap="square" lIns="0" tIns="0" rIns="0" bIns="0" rtlCol="0" anchor="t"/>
          <a:lstStyle/>
          <a:p>
            <a:pPr marL="0" indent="0">
              <a:buNone/>
            </a:pPr>
            <a:r>
              <a:rPr lang="en-US" sz="1400" dirty="0">
                <a:solidFill>
                  <a:schemeClr val="tx1"/>
                </a:solidFill>
              </a:rPr>
              <a:t>with a plain array (slower)</a:t>
            </a:r>
            <a:endParaRPr lang="en-US" sz="1400" dirty="0"/>
          </a:p>
        </p:txBody>
      </p:sp>
      <p:sp>
        <p:nvSpPr>
          <p:cNvPr id="12" name="Text 8"/>
          <p:cNvSpPr txBox="1"/>
          <p:nvPr/>
        </p:nvSpPr>
        <p:spPr>
          <a:xfrm>
            <a:off x="457200" y="3429000"/>
            <a:ext cx="8229600" cy="274320"/>
          </a:xfrm>
          <a:prstGeom prst="rect">
            <a:avLst/>
          </a:prstGeom>
          <a:noFill/>
          <a:ln/>
        </p:spPr>
        <p:txBody>
          <a:bodyPr wrap="square" lIns="0" tIns="0" rIns="0" bIns="0" rtlCol="0" anchor="t"/>
          <a:lstStyle/>
          <a:p>
            <a:pPr marL="0" indent="0">
              <a:buNone/>
            </a:pPr>
            <a:r>
              <a:rPr lang="en-US" sz="1600" b="1" dirty="0">
                <a:solidFill>
                  <a:schemeClr val="tx2"/>
                </a:solidFill>
              </a:rPr>
              <a:t>Shortest Chennai to Mumbai route: 1,340 km</a:t>
            </a:r>
            <a:endParaRPr lang="en-US" sz="1600" dirty="0"/>
          </a:p>
        </p:txBody>
      </p:sp>
      <p:sp>
        <p:nvSpPr>
          <p:cNvPr id="13" name="path-Chennai"/>
          <p:cNvSpPr/>
          <p:nvPr/>
        </p:nvSpPr>
        <p:spPr>
          <a:xfrm>
            <a:off x="457200" y="3931920"/>
            <a:ext cx="1463040" cy="502920"/>
          </a:xfrm>
          <a:prstGeom prst="roundRect">
            <a:avLst>
              <a:gd name="adj" fmla="val 14545"/>
            </a:avLst>
          </a:prstGeom>
          <a:solidFill>
            <a:schemeClr val="tx2"/>
          </a:solidFill>
          <a:ln/>
        </p:spPr>
      </p:sp>
      <p:sp>
        <p:nvSpPr>
          <p:cNvPr id="14" name="Text 10"/>
          <p:cNvSpPr txBox="1"/>
          <p:nvPr/>
        </p:nvSpPr>
        <p:spPr>
          <a:xfrm>
            <a:off x="457200" y="3931920"/>
            <a:ext cx="1463040" cy="502920"/>
          </a:xfrm>
          <a:prstGeom prst="rect">
            <a:avLst/>
          </a:prstGeom>
          <a:noFill/>
          <a:ln/>
        </p:spPr>
        <p:txBody>
          <a:bodyPr wrap="square" lIns="0" tIns="0" rIns="0" bIns="0" rtlCol="0" anchor="ctr"/>
          <a:lstStyle/>
          <a:p>
            <a:pPr marL="0" indent="0" algn="ctr">
              <a:buNone/>
            </a:pPr>
            <a:r>
              <a:rPr lang="en-US" sz="1400" b="1" dirty="0">
                <a:solidFill>
                  <a:schemeClr val="bg1"/>
                </a:solidFill>
              </a:rPr>
              <a:t>Chennai</a:t>
            </a:r>
            <a:endParaRPr lang="en-US" sz="1400" dirty="0"/>
          </a:p>
        </p:txBody>
      </p:sp>
      <p:sp>
        <p:nvSpPr>
          <p:cNvPr id="15" name="Shape 11"/>
          <p:cNvSpPr/>
          <p:nvPr/>
        </p:nvSpPr>
        <p:spPr>
          <a:xfrm>
            <a:off x="1965960" y="4183380"/>
            <a:ext cx="640080" cy="0"/>
          </a:xfrm>
          <a:prstGeom prst="line">
            <a:avLst/>
          </a:prstGeom>
          <a:noFill/>
          <a:ln w="31750">
            <a:solidFill>
              <a:schemeClr val="accent4"/>
            </a:solidFill>
            <a:prstDash val="solid"/>
            <a:tailEnd type="triangle"/>
          </a:ln>
        </p:spPr>
      </p:sp>
      <p:sp>
        <p:nvSpPr>
          <p:cNvPr id="16" name="Text 12"/>
          <p:cNvSpPr txBox="1"/>
          <p:nvPr/>
        </p:nvSpPr>
        <p:spPr>
          <a:xfrm>
            <a:off x="1965960" y="3886200"/>
            <a:ext cx="640080" cy="228600"/>
          </a:xfrm>
          <a:prstGeom prst="rect">
            <a:avLst/>
          </a:prstGeom>
          <a:noFill/>
          <a:ln/>
        </p:spPr>
        <p:txBody>
          <a:bodyPr wrap="square" lIns="0" tIns="0" rIns="0" bIns="0" rtlCol="0" anchor="t"/>
          <a:lstStyle/>
          <a:p>
            <a:pPr marL="0" indent="0" algn="ctr">
              <a:buNone/>
            </a:pPr>
            <a:r>
              <a:rPr lang="en-US" sz="1200" b="1" dirty="0">
                <a:solidFill>
                  <a:schemeClr val="accent4"/>
                </a:solidFill>
              </a:rPr>
              <a:t>630</a:t>
            </a:r>
            <a:endParaRPr lang="en-US" sz="1200" dirty="0"/>
          </a:p>
        </p:txBody>
      </p:sp>
      <p:sp>
        <p:nvSpPr>
          <p:cNvPr id="17" name="path-Hyderabad"/>
          <p:cNvSpPr/>
          <p:nvPr/>
        </p:nvSpPr>
        <p:spPr>
          <a:xfrm>
            <a:off x="2651760" y="3931920"/>
            <a:ext cx="1463040" cy="502920"/>
          </a:xfrm>
          <a:prstGeom prst="roundRect">
            <a:avLst>
              <a:gd name="adj" fmla="val 14545"/>
            </a:avLst>
          </a:prstGeom>
          <a:solidFill>
            <a:schemeClr val="accent1"/>
          </a:solidFill>
          <a:ln/>
        </p:spPr>
      </p:sp>
      <p:sp>
        <p:nvSpPr>
          <p:cNvPr id="18" name="Text 14"/>
          <p:cNvSpPr txBox="1"/>
          <p:nvPr/>
        </p:nvSpPr>
        <p:spPr>
          <a:xfrm>
            <a:off x="2651760" y="3931920"/>
            <a:ext cx="1463040" cy="502920"/>
          </a:xfrm>
          <a:prstGeom prst="rect">
            <a:avLst/>
          </a:prstGeom>
          <a:noFill/>
          <a:ln/>
        </p:spPr>
        <p:txBody>
          <a:bodyPr wrap="square" lIns="0" tIns="0" rIns="0" bIns="0" rtlCol="0" anchor="ctr"/>
          <a:lstStyle/>
          <a:p>
            <a:pPr marL="0" indent="0" algn="ctr">
              <a:buNone/>
            </a:pPr>
            <a:r>
              <a:rPr lang="en-US" sz="1400" b="1" dirty="0">
                <a:solidFill>
                  <a:schemeClr val="bg1"/>
                </a:solidFill>
              </a:rPr>
              <a:t>Hyderabad</a:t>
            </a:r>
            <a:endParaRPr lang="en-US" sz="1400" dirty="0"/>
          </a:p>
        </p:txBody>
      </p:sp>
      <p:sp>
        <p:nvSpPr>
          <p:cNvPr id="19" name="Shape 15"/>
          <p:cNvSpPr/>
          <p:nvPr/>
        </p:nvSpPr>
        <p:spPr>
          <a:xfrm>
            <a:off x="4160520" y="4183380"/>
            <a:ext cx="640080" cy="0"/>
          </a:xfrm>
          <a:prstGeom prst="line">
            <a:avLst/>
          </a:prstGeom>
          <a:noFill/>
          <a:ln w="31750">
            <a:solidFill>
              <a:schemeClr val="accent4"/>
            </a:solidFill>
            <a:prstDash val="solid"/>
            <a:tailEnd type="triangle"/>
          </a:ln>
        </p:spPr>
      </p:sp>
      <p:sp>
        <p:nvSpPr>
          <p:cNvPr id="20" name="Text 16"/>
          <p:cNvSpPr txBox="1"/>
          <p:nvPr/>
        </p:nvSpPr>
        <p:spPr>
          <a:xfrm>
            <a:off x="4160520" y="3886200"/>
            <a:ext cx="640080" cy="228600"/>
          </a:xfrm>
          <a:prstGeom prst="rect">
            <a:avLst/>
          </a:prstGeom>
          <a:noFill/>
          <a:ln/>
        </p:spPr>
        <p:txBody>
          <a:bodyPr wrap="square" lIns="0" tIns="0" rIns="0" bIns="0" rtlCol="0" anchor="t"/>
          <a:lstStyle/>
          <a:p>
            <a:pPr marL="0" indent="0" algn="ctr">
              <a:buNone/>
            </a:pPr>
            <a:r>
              <a:rPr lang="en-US" sz="1200" b="1" dirty="0">
                <a:solidFill>
                  <a:schemeClr val="accent4"/>
                </a:solidFill>
              </a:rPr>
              <a:t>560</a:t>
            </a:r>
            <a:endParaRPr lang="en-US" sz="1200" dirty="0"/>
          </a:p>
        </p:txBody>
      </p:sp>
      <p:sp>
        <p:nvSpPr>
          <p:cNvPr id="21" name="path-Pune"/>
          <p:cNvSpPr/>
          <p:nvPr/>
        </p:nvSpPr>
        <p:spPr>
          <a:xfrm>
            <a:off x="4846320" y="3931920"/>
            <a:ext cx="1463040" cy="502920"/>
          </a:xfrm>
          <a:prstGeom prst="roundRect">
            <a:avLst>
              <a:gd name="adj" fmla="val 14545"/>
            </a:avLst>
          </a:prstGeom>
          <a:solidFill>
            <a:schemeClr val="accent1"/>
          </a:solidFill>
          <a:ln/>
        </p:spPr>
      </p:sp>
      <p:sp>
        <p:nvSpPr>
          <p:cNvPr id="22" name="Text 18"/>
          <p:cNvSpPr txBox="1"/>
          <p:nvPr/>
        </p:nvSpPr>
        <p:spPr>
          <a:xfrm>
            <a:off x="4846320" y="3931920"/>
            <a:ext cx="1463040" cy="502920"/>
          </a:xfrm>
          <a:prstGeom prst="rect">
            <a:avLst/>
          </a:prstGeom>
          <a:noFill/>
          <a:ln/>
        </p:spPr>
        <p:txBody>
          <a:bodyPr wrap="square" lIns="0" tIns="0" rIns="0" bIns="0" rtlCol="0" anchor="ctr"/>
          <a:lstStyle/>
          <a:p>
            <a:pPr marL="0" indent="0" algn="ctr">
              <a:buNone/>
            </a:pPr>
            <a:r>
              <a:rPr lang="en-US" sz="1400" b="1" dirty="0">
                <a:solidFill>
                  <a:schemeClr val="bg1"/>
                </a:solidFill>
              </a:rPr>
              <a:t>Pune</a:t>
            </a:r>
            <a:endParaRPr lang="en-US" sz="1400" dirty="0"/>
          </a:p>
        </p:txBody>
      </p:sp>
      <p:sp>
        <p:nvSpPr>
          <p:cNvPr id="23" name="Shape 19"/>
          <p:cNvSpPr/>
          <p:nvPr/>
        </p:nvSpPr>
        <p:spPr>
          <a:xfrm>
            <a:off x="6355080" y="4183380"/>
            <a:ext cx="640080" cy="0"/>
          </a:xfrm>
          <a:prstGeom prst="line">
            <a:avLst/>
          </a:prstGeom>
          <a:noFill/>
          <a:ln w="31750">
            <a:solidFill>
              <a:schemeClr val="accent4"/>
            </a:solidFill>
            <a:prstDash val="solid"/>
            <a:tailEnd type="triangle"/>
          </a:ln>
        </p:spPr>
      </p:sp>
      <p:sp>
        <p:nvSpPr>
          <p:cNvPr id="24" name="Text 20"/>
          <p:cNvSpPr txBox="1"/>
          <p:nvPr/>
        </p:nvSpPr>
        <p:spPr>
          <a:xfrm>
            <a:off x="6355080" y="3886200"/>
            <a:ext cx="640080" cy="228600"/>
          </a:xfrm>
          <a:prstGeom prst="rect">
            <a:avLst/>
          </a:prstGeom>
          <a:noFill/>
          <a:ln/>
        </p:spPr>
        <p:txBody>
          <a:bodyPr wrap="square" lIns="0" tIns="0" rIns="0" bIns="0" rtlCol="0" anchor="t"/>
          <a:lstStyle/>
          <a:p>
            <a:pPr marL="0" indent="0" algn="ctr">
              <a:buNone/>
            </a:pPr>
            <a:r>
              <a:rPr lang="en-US" sz="1200" b="1" dirty="0">
                <a:solidFill>
                  <a:schemeClr val="accent4"/>
                </a:solidFill>
              </a:rPr>
              <a:t>150</a:t>
            </a:r>
            <a:endParaRPr lang="en-US" sz="1200" dirty="0"/>
          </a:p>
        </p:txBody>
      </p:sp>
      <p:sp>
        <p:nvSpPr>
          <p:cNvPr id="25" name="path-Mumbai"/>
          <p:cNvSpPr/>
          <p:nvPr/>
        </p:nvSpPr>
        <p:spPr>
          <a:xfrm>
            <a:off x="7040880" y="3931920"/>
            <a:ext cx="1463040" cy="502920"/>
          </a:xfrm>
          <a:prstGeom prst="roundRect">
            <a:avLst>
              <a:gd name="adj" fmla="val 14545"/>
            </a:avLst>
          </a:prstGeom>
          <a:solidFill>
            <a:schemeClr val="accent2"/>
          </a:solidFill>
          <a:ln/>
        </p:spPr>
      </p:sp>
      <p:sp>
        <p:nvSpPr>
          <p:cNvPr id="26" name="Text 22"/>
          <p:cNvSpPr txBox="1"/>
          <p:nvPr/>
        </p:nvSpPr>
        <p:spPr>
          <a:xfrm>
            <a:off x="7040880" y="3931920"/>
            <a:ext cx="1463040" cy="502920"/>
          </a:xfrm>
          <a:prstGeom prst="rect">
            <a:avLst/>
          </a:prstGeom>
          <a:noFill/>
          <a:ln/>
        </p:spPr>
        <p:txBody>
          <a:bodyPr wrap="square" lIns="0" tIns="0" rIns="0" bIns="0" rtlCol="0" anchor="ctr"/>
          <a:lstStyle/>
          <a:p>
            <a:pPr marL="0" indent="0" algn="ctr">
              <a:buNone/>
            </a:pPr>
            <a:r>
              <a:rPr lang="en-US" sz="1400" b="1" dirty="0">
                <a:solidFill>
                  <a:schemeClr val="tx1"/>
                </a:solidFill>
              </a:rPr>
              <a:t>Mumbai</a:t>
            </a:r>
            <a:endParaRPr lang="en-US" sz="1400" dirty="0"/>
          </a:p>
        </p:txBody>
      </p:sp>
      <p:sp>
        <p:nvSpPr>
          <p:cNvPr id="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3.Back navigation needs LIFO order</a:t>
            </a:r>
            <a:endParaRPr lang="en-US" sz="3000" dirty="0"/>
          </a:p>
        </p:txBody>
      </p:sp>
      <p:sp>
        <p:nvSpPr>
          <p:cNvPr id="5" name="page-0"/>
          <p:cNvSpPr/>
          <p:nvPr/>
        </p:nvSpPr>
        <p:spPr>
          <a:xfrm>
            <a:off x="457200" y="1417320"/>
            <a:ext cx="1645920" cy="640080"/>
          </a:xfrm>
          <a:prstGeom prst="roundRect">
            <a:avLst>
              <a:gd name="adj" fmla="val 11429"/>
            </a:avLst>
          </a:prstGeom>
          <a:solidFill>
            <a:schemeClr val="tx2"/>
          </a:solidFill>
          <a:ln/>
        </p:spPr>
      </p:sp>
      <p:sp>
        <p:nvSpPr>
          <p:cNvPr id="6" name="Text 3"/>
          <p:cNvSpPr txBox="1"/>
          <p:nvPr/>
        </p:nvSpPr>
        <p:spPr>
          <a:xfrm>
            <a:off x="457200" y="1417320"/>
            <a:ext cx="1645920" cy="640080"/>
          </a:xfrm>
          <a:prstGeom prst="rect">
            <a:avLst/>
          </a:prstGeom>
          <a:noFill/>
          <a:ln/>
        </p:spPr>
        <p:txBody>
          <a:bodyPr wrap="square" lIns="0" tIns="0" rIns="0" bIns="0" rtlCol="0" anchor="ctr"/>
          <a:lstStyle/>
          <a:p>
            <a:pPr marL="0" indent="0" algn="ctr">
              <a:buNone/>
            </a:pPr>
            <a:r>
              <a:rPr lang="en-US" sz="1400" b="1" dirty="0">
                <a:solidFill>
                  <a:schemeClr val="bg1"/>
                </a:solidFill>
              </a:rPr>
              <a:t>Home</a:t>
            </a:r>
            <a:endParaRPr lang="en-US" sz="1400" dirty="0"/>
          </a:p>
        </p:txBody>
      </p:sp>
      <p:sp>
        <p:nvSpPr>
          <p:cNvPr id="7" name="Shape 4"/>
          <p:cNvSpPr/>
          <p:nvPr/>
        </p:nvSpPr>
        <p:spPr>
          <a:xfrm>
            <a:off x="2148840" y="1737360"/>
            <a:ext cx="457200" cy="0"/>
          </a:xfrm>
          <a:prstGeom prst="line">
            <a:avLst/>
          </a:prstGeom>
          <a:noFill/>
          <a:ln w="31750">
            <a:solidFill>
              <a:schemeClr val="accent6"/>
            </a:solidFill>
            <a:prstDash val="solid"/>
            <a:tailEnd type="triangle"/>
          </a:ln>
        </p:spPr>
      </p:sp>
      <p:sp>
        <p:nvSpPr>
          <p:cNvPr id="8" name="page-1"/>
          <p:cNvSpPr/>
          <p:nvPr/>
        </p:nvSpPr>
        <p:spPr>
          <a:xfrm>
            <a:off x="2651760" y="1417320"/>
            <a:ext cx="1645920" cy="640080"/>
          </a:xfrm>
          <a:prstGeom prst="roundRect">
            <a:avLst>
              <a:gd name="adj" fmla="val 11429"/>
            </a:avLst>
          </a:prstGeom>
          <a:solidFill>
            <a:schemeClr val="tx2"/>
          </a:solidFill>
          <a:ln/>
        </p:spPr>
      </p:sp>
      <p:sp>
        <p:nvSpPr>
          <p:cNvPr id="9" name="Text 6"/>
          <p:cNvSpPr txBox="1"/>
          <p:nvPr/>
        </p:nvSpPr>
        <p:spPr>
          <a:xfrm>
            <a:off x="2651760" y="1417320"/>
            <a:ext cx="1645920" cy="640080"/>
          </a:xfrm>
          <a:prstGeom prst="rect">
            <a:avLst/>
          </a:prstGeom>
          <a:noFill/>
          <a:ln/>
        </p:spPr>
        <p:txBody>
          <a:bodyPr wrap="square" lIns="0" tIns="0" rIns="0" bIns="0" rtlCol="0" anchor="ctr"/>
          <a:lstStyle/>
          <a:p>
            <a:pPr marL="0" indent="0" algn="ctr">
              <a:buNone/>
            </a:pPr>
            <a:r>
              <a:rPr lang="en-US" sz="1400" b="1" dirty="0">
                <a:solidFill>
                  <a:schemeClr val="bg1"/>
                </a:solidFill>
              </a:rPr>
              <a:t>Search results</a:t>
            </a:r>
            <a:endParaRPr lang="en-US" sz="1400" dirty="0"/>
          </a:p>
        </p:txBody>
      </p:sp>
      <p:sp>
        <p:nvSpPr>
          <p:cNvPr id="10" name="Shape 7"/>
          <p:cNvSpPr/>
          <p:nvPr/>
        </p:nvSpPr>
        <p:spPr>
          <a:xfrm>
            <a:off x="4343400" y="1737360"/>
            <a:ext cx="457200" cy="0"/>
          </a:xfrm>
          <a:prstGeom prst="line">
            <a:avLst/>
          </a:prstGeom>
          <a:noFill/>
          <a:ln w="31750">
            <a:solidFill>
              <a:schemeClr val="accent6"/>
            </a:solidFill>
            <a:prstDash val="solid"/>
            <a:tailEnd type="triangle"/>
          </a:ln>
        </p:spPr>
      </p:sp>
      <p:sp>
        <p:nvSpPr>
          <p:cNvPr id="11" name="page-2"/>
          <p:cNvSpPr/>
          <p:nvPr/>
        </p:nvSpPr>
        <p:spPr>
          <a:xfrm>
            <a:off x="4846320" y="1417320"/>
            <a:ext cx="1645920" cy="640080"/>
          </a:xfrm>
          <a:prstGeom prst="roundRect">
            <a:avLst>
              <a:gd name="adj" fmla="val 11429"/>
            </a:avLst>
          </a:prstGeom>
          <a:solidFill>
            <a:schemeClr val="tx2"/>
          </a:solidFill>
          <a:ln/>
        </p:spPr>
      </p:sp>
      <p:sp>
        <p:nvSpPr>
          <p:cNvPr id="12" name="Text 9"/>
          <p:cNvSpPr txBox="1"/>
          <p:nvPr/>
        </p:nvSpPr>
        <p:spPr>
          <a:xfrm>
            <a:off x="4846320" y="1417320"/>
            <a:ext cx="1645920" cy="640080"/>
          </a:xfrm>
          <a:prstGeom prst="rect">
            <a:avLst/>
          </a:prstGeom>
          <a:noFill/>
          <a:ln/>
        </p:spPr>
        <p:txBody>
          <a:bodyPr wrap="square" lIns="0" tIns="0" rIns="0" bIns="0" rtlCol="0" anchor="ctr"/>
          <a:lstStyle/>
          <a:p>
            <a:pPr marL="0" indent="0" algn="ctr">
              <a:buNone/>
            </a:pPr>
            <a:r>
              <a:rPr lang="en-US" sz="1400" b="1" dirty="0">
                <a:solidFill>
                  <a:schemeClr val="bg1"/>
                </a:solidFill>
              </a:rPr>
              <a:t>Article</a:t>
            </a:r>
            <a:endParaRPr lang="en-US" sz="1400" dirty="0"/>
          </a:p>
        </p:txBody>
      </p:sp>
      <p:sp>
        <p:nvSpPr>
          <p:cNvPr id="13" name="Shape 10"/>
          <p:cNvSpPr/>
          <p:nvPr/>
        </p:nvSpPr>
        <p:spPr>
          <a:xfrm>
            <a:off x="6537960" y="1737360"/>
            <a:ext cx="457200" cy="0"/>
          </a:xfrm>
          <a:prstGeom prst="line">
            <a:avLst/>
          </a:prstGeom>
          <a:noFill/>
          <a:ln w="31750">
            <a:solidFill>
              <a:schemeClr val="accent6"/>
            </a:solidFill>
            <a:prstDash val="solid"/>
            <a:tailEnd type="triangle"/>
          </a:ln>
        </p:spPr>
      </p:sp>
      <p:sp>
        <p:nvSpPr>
          <p:cNvPr id="14" name="page-3"/>
          <p:cNvSpPr/>
          <p:nvPr/>
        </p:nvSpPr>
        <p:spPr>
          <a:xfrm>
            <a:off x="7040880" y="1417320"/>
            <a:ext cx="1645920" cy="640080"/>
          </a:xfrm>
          <a:prstGeom prst="roundRect">
            <a:avLst>
              <a:gd name="adj" fmla="val 11429"/>
            </a:avLst>
          </a:prstGeom>
          <a:solidFill>
            <a:schemeClr val="accent2"/>
          </a:solidFill>
          <a:ln/>
        </p:spPr>
      </p:sp>
      <p:sp>
        <p:nvSpPr>
          <p:cNvPr id="15" name="Text 12"/>
          <p:cNvSpPr txBox="1"/>
          <p:nvPr/>
        </p:nvSpPr>
        <p:spPr>
          <a:xfrm>
            <a:off x="7040880" y="1417320"/>
            <a:ext cx="1645920" cy="640080"/>
          </a:xfrm>
          <a:prstGeom prst="rect">
            <a:avLst/>
          </a:prstGeom>
          <a:noFill/>
          <a:ln/>
        </p:spPr>
        <p:txBody>
          <a:bodyPr wrap="square" lIns="0" tIns="0" rIns="0" bIns="0" rtlCol="0" anchor="ctr"/>
          <a:lstStyle/>
          <a:p>
            <a:pPr marL="0" indent="0" algn="ctr">
              <a:buNone/>
            </a:pPr>
            <a:r>
              <a:rPr lang="en-US" sz="1400" b="1" dirty="0">
                <a:solidFill>
                  <a:schemeClr val="tx1"/>
                </a:solidFill>
              </a:rPr>
              <a:t>Video (current)</a:t>
            </a:r>
            <a:endParaRPr lang="en-US" sz="1400" dirty="0"/>
          </a:p>
        </p:txBody>
      </p:sp>
      <p:sp>
        <p:nvSpPr>
          <p:cNvPr id="16" name="Text 13"/>
          <p:cNvSpPr txBox="1"/>
          <p:nvPr/>
        </p:nvSpPr>
        <p:spPr>
          <a:xfrm>
            <a:off x="457200" y="2240280"/>
            <a:ext cx="8229600" cy="274320"/>
          </a:xfrm>
          <a:prstGeom prst="rect">
            <a:avLst/>
          </a:prstGeom>
          <a:noFill/>
          <a:ln/>
        </p:spPr>
        <p:txBody>
          <a:bodyPr wrap="square" lIns="0" tIns="0" rIns="0" bIns="0" rtlCol="0" anchor="t"/>
          <a:lstStyle/>
          <a:p>
            <a:pPr marL="0" indent="0">
              <a:buNone/>
            </a:pPr>
            <a:endParaRPr lang="en-US" sz="1400" dirty="0"/>
          </a:p>
        </p:txBody>
      </p:sp>
      <p:sp>
        <p:nvSpPr>
          <p:cNvPr id="17" name="need-0"/>
          <p:cNvSpPr/>
          <p:nvPr/>
        </p:nvSpPr>
        <p:spPr>
          <a:xfrm>
            <a:off x="457200" y="2834640"/>
            <a:ext cx="2560320" cy="1691640"/>
          </a:xfrm>
          <a:prstGeom prst="roundRect">
            <a:avLst>
              <a:gd name="adj" fmla="val 4324"/>
            </a:avLst>
          </a:prstGeom>
          <a:solidFill>
            <a:schemeClr val="bg2"/>
          </a:solidFill>
          <a:ln/>
        </p:spPr>
      </p:sp>
      <p:sp>
        <p:nvSpPr>
          <p:cNvPr id="18" name="Text 15"/>
          <p:cNvSpPr txBox="1"/>
          <p:nvPr/>
        </p:nvSpPr>
        <p:spPr>
          <a:xfrm>
            <a:off x="640080" y="2971800"/>
            <a:ext cx="2194560" cy="274320"/>
          </a:xfrm>
          <a:prstGeom prst="rect">
            <a:avLst/>
          </a:prstGeom>
          <a:noFill/>
          <a:ln/>
        </p:spPr>
        <p:txBody>
          <a:bodyPr wrap="square" lIns="0" tIns="0" rIns="0" bIns="0" rtlCol="0" anchor="t"/>
          <a:lstStyle/>
          <a:p>
            <a:pPr marL="0" indent="0">
              <a:buNone/>
            </a:pPr>
            <a:r>
              <a:rPr lang="en-US" sz="1600" b="1" dirty="0">
                <a:solidFill>
                  <a:schemeClr val="tx2"/>
                </a:solidFill>
              </a:rPr>
              <a:t>Remember order</a:t>
            </a:r>
            <a:endParaRPr lang="en-US" sz="1600" dirty="0"/>
          </a:p>
        </p:txBody>
      </p:sp>
      <p:sp>
        <p:nvSpPr>
          <p:cNvPr id="19" name="Text 16"/>
          <p:cNvSpPr txBox="1"/>
          <p:nvPr/>
        </p:nvSpPr>
        <p:spPr>
          <a:xfrm>
            <a:off x="640080" y="3383280"/>
            <a:ext cx="2194560" cy="1005840"/>
          </a:xfrm>
          <a:prstGeom prst="rect">
            <a:avLst/>
          </a:prstGeom>
          <a:noFill/>
          <a:ln/>
        </p:spPr>
        <p:txBody>
          <a:bodyPr wrap="square" lIns="0" tIns="0" rIns="0" bIns="0" rtlCol="0" anchor="t"/>
          <a:lstStyle/>
          <a:p>
            <a:pPr marL="0" indent="0">
              <a:buNone/>
            </a:pPr>
            <a:r>
              <a:rPr lang="en-US" sz="1400" dirty="0">
                <a:solidFill>
                  <a:schemeClr val="tx1"/>
                </a:solidFill>
              </a:rPr>
              <a:t>History must keep pages in the sequence they were visited.</a:t>
            </a:r>
            <a:endParaRPr lang="en-US" sz="1400" dirty="0"/>
          </a:p>
        </p:txBody>
      </p:sp>
      <p:sp>
        <p:nvSpPr>
          <p:cNvPr id="20" name="need-1"/>
          <p:cNvSpPr/>
          <p:nvPr/>
        </p:nvSpPr>
        <p:spPr>
          <a:xfrm>
            <a:off x="3291840" y="2834640"/>
            <a:ext cx="2560320" cy="1691640"/>
          </a:xfrm>
          <a:prstGeom prst="roundRect">
            <a:avLst>
              <a:gd name="adj" fmla="val 4324"/>
            </a:avLst>
          </a:prstGeom>
          <a:solidFill>
            <a:schemeClr val="bg2"/>
          </a:solidFill>
          <a:ln/>
        </p:spPr>
      </p:sp>
      <p:sp>
        <p:nvSpPr>
          <p:cNvPr id="21" name="Text 18"/>
          <p:cNvSpPr txBox="1"/>
          <p:nvPr/>
        </p:nvSpPr>
        <p:spPr>
          <a:xfrm>
            <a:off x="3474720" y="2971800"/>
            <a:ext cx="2194560" cy="274320"/>
          </a:xfrm>
          <a:prstGeom prst="rect">
            <a:avLst/>
          </a:prstGeom>
          <a:noFill/>
          <a:ln/>
        </p:spPr>
        <p:txBody>
          <a:bodyPr wrap="square" lIns="0" tIns="0" rIns="0" bIns="0" rtlCol="0" anchor="t"/>
          <a:lstStyle/>
          <a:p>
            <a:pPr marL="0" indent="0">
              <a:buNone/>
            </a:pPr>
            <a:r>
              <a:rPr lang="en-US" sz="1600" b="1" dirty="0">
                <a:solidFill>
                  <a:schemeClr val="tx2"/>
                </a:solidFill>
              </a:rPr>
              <a:t>Latest first</a:t>
            </a:r>
            <a:endParaRPr lang="en-US" sz="1600" dirty="0"/>
          </a:p>
        </p:txBody>
      </p:sp>
      <p:sp>
        <p:nvSpPr>
          <p:cNvPr id="22" name="Text 19"/>
          <p:cNvSpPr txBox="1"/>
          <p:nvPr/>
        </p:nvSpPr>
        <p:spPr>
          <a:xfrm>
            <a:off x="3474720" y="3383280"/>
            <a:ext cx="2194560" cy="1005840"/>
          </a:xfrm>
          <a:prstGeom prst="rect">
            <a:avLst/>
          </a:prstGeom>
          <a:noFill/>
          <a:ln/>
        </p:spPr>
        <p:txBody>
          <a:bodyPr wrap="square" lIns="0" tIns="0" rIns="0" bIns="0" rtlCol="0" anchor="t"/>
          <a:lstStyle/>
          <a:p>
            <a:pPr marL="0" indent="0">
              <a:buNone/>
            </a:pPr>
            <a:r>
              <a:rPr lang="en-US" sz="1400" dirty="0">
                <a:solidFill>
                  <a:schemeClr val="tx1"/>
                </a:solidFill>
              </a:rPr>
              <a:t>Back needs the most recently visited page, not the oldest.</a:t>
            </a:r>
            <a:endParaRPr lang="en-US" sz="1400" dirty="0"/>
          </a:p>
        </p:txBody>
      </p:sp>
      <p:sp>
        <p:nvSpPr>
          <p:cNvPr id="23" name="need-2"/>
          <p:cNvSpPr/>
          <p:nvPr/>
        </p:nvSpPr>
        <p:spPr>
          <a:xfrm>
            <a:off x="6126480" y="2834640"/>
            <a:ext cx="2560320" cy="1691640"/>
          </a:xfrm>
          <a:prstGeom prst="roundRect">
            <a:avLst>
              <a:gd name="adj" fmla="val 4324"/>
            </a:avLst>
          </a:prstGeom>
          <a:solidFill>
            <a:schemeClr val="tx2"/>
          </a:solidFill>
          <a:ln/>
        </p:spPr>
      </p:sp>
      <p:sp>
        <p:nvSpPr>
          <p:cNvPr id="24" name="Text 21"/>
          <p:cNvSpPr txBox="1"/>
          <p:nvPr/>
        </p:nvSpPr>
        <p:spPr>
          <a:xfrm>
            <a:off x="6309360" y="2971800"/>
            <a:ext cx="2194560" cy="274320"/>
          </a:xfrm>
          <a:prstGeom prst="rect">
            <a:avLst/>
          </a:prstGeom>
          <a:noFill/>
          <a:ln/>
        </p:spPr>
        <p:txBody>
          <a:bodyPr wrap="square" lIns="0" tIns="0" rIns="0" bIns="0" rtlCol="0" anchor="t"/>
          <a:lstStyle/>
          <a:p>
            <a:pPr marL="0" indent="0">
              <a:buNone/>
            </a:pPr>
            <a:r>
              <a:rPr lang="en-US" sz="1600" b="1" dirty="0">
                <a:solidFill>
                  <a:schemeClr val="accent2"/>
                </a:solidFill>
              </a:rPr>
              <a:t>One-end access</a:t>
            </a:r>
            <a:endParaRPr lang="en-US" sz="1600" dirty="0"/>
          </a:p>
        </p:txBody>
      </p:sp>
      <p:sp>
        <p:nvSpPr>
          <p:cNvPr id="25" name="Text 22"/>
          <p:cNvSpPr txBox="1"/>
          <p:nvPr/>
        </p:nvSpPr>
        <p:spPr>
          <a:xfrm>
            <a:off x="6309360" y="3383280"/>
            <a:ext cx="2194560" cy="1005840"/>
          </a:xfrm>
          <a:prstGeom prst="rect">
            <a:avLst/>
          </a:prstGeom>
          <a:noFill/>
          <a:ln/>
        </p:spPr>
        <p:txBody>
          <a:bodyPr wrap="square" lIns="0" tIns="0" rIns="0" bIns="0" rtlCol="0" anchor="t"/>
          <a:lstStyle/>
          <a:p>
            <a:pPr marL="0" indent="0">
              <a:buNone/>
            </a:pPr>
            <a:r>
              <a:rPr lang="en-US" sz="1400" dirty="0">
                <a:solidFill>
                  <a:schemeClr val="bg1"/>
                </a:solidFill>
              </a:rPr>
              <a:t>Add and remove only at the top: ideal for a Stack ADT.</a:t>
            </a:r>
            <a:endParaRPr lang="en-US" sz="14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How the Stack ADT works</a:t>
            </a:r>
            <a:endParaRPr lang="en-US" sz="3000" dirty="0"/>
          </a:p>
        </p:txBody>
      </p:sp>
      <p:sp>
        <p:nvSpPr>
          <p:cNvPr id="5" name="stack-0"/>
          <p:cNvSpPr/>
          <p:nvPr/>
        </p:nvSpPr>
        <p:spPr>
          <a:xfrm>
            <a:off x="457200" y="1417320"/>
            <a:ext cx="2560320" cy="548640"/>
          </a:xfrm>
          <a:prstGeom prst="rect">
            <a:avLst/>
          </a:prstGeom>
          <a:solidFill>
            <a:schemeClr val="accent2"/>
          </a:solidFill>
          <a:ln w="12700">
            <a:solidFill>
              <a:schemeClr val="bg1"/>
            </a:solidFill>
            <a:prstDash val="solid"/>
          </a:ln>
        </p:spPr>
      </p:sp>
      <p:sp>
        <p:nvSpPr>
          <p:cNvPr id="6" name="Text 3"/>
          <p:cNvSpPr txBox="1"/>
          <p:nvPr/>
        </p:nvSpPr>
        <p:spPr>
          <a:xfrm>
            <a:off x="457200" y="1417320"/>
            <a:ext cx="2560320" cy="548640"/>
          </a:xfrm>
          <a:prstGeom prst="rect">
            <a:avLst/>
          </a:prstGeom>
          <a:noFill/>
          <a:ln/>
        </p:spPr>
        <p:txBody>
          <a:bodyPr wrap="square" lIns="0" tIns="0" rIns="0" bIns="0" rtlCol="0" anchor="ctr"/>
          <a:lstStyle/>
          <a:p>
            <a:pPr marL="0" indent="0" algn="ctr">
              <a:buNone/>
            </a:pPr>
            <a:r>
              <a:rPr lang="en-US" sz="1400" b="1" dirty="0">
                <a:solidFill>
                  <a:schemeClr val="tx1"/>
                </a:solidFill>
              </a:rPr>
              <a:t>Video (top)</a:t>
            </a:r>
            <a:endParaRPr lang="en-US" sz="1400" dirty="0"/>
          </a:p>
        </p:txBody>
      </p:sp>
      <p:sp>
        <p:nvSpPr>
          <p:cNvPr id="7" name="stack-1"/>
          <p:cNvSpPr/>
          <p:nvPr/>
        </p:nvSpPr>
        <p:spPr>
          <a:xfrm>
            <a:off x="457200" y="2039112"/>
            <a:ext cx="2560320" cy="548640"/>
          </a:xfrm>
          <a:prstGeom prst="rect">
            <a:avLst/>
          </a:prstGeom>
          <a:solidFill>
            <a:schemeClr val="tx2"/>
          </a:solidFill>
          <a:ln w="12700">
            <a:solidFill>
              <a:schemeClr val="bg1"/>
            </a:solidFill>
            <a:prstDash val="solid"/>
          </a:ln>
        </p:spPr>
      </p:sp>
      <p:sp>
        <p:nvSpPr>
          <p:cNvPr id="8" name="Text 5"/>
          <p:cNvSpPr txBox="1"/>
          <p:nvPr/>
        </p:nvSpPr>
        <p:spPr>
          <a:xfrm>
            <a:off x="457200" y="2039112"/>
            <a:ext cx="2560320" cy="548640"/>
          </a:xfrm>
          <a:prstGeom prst="rect">
            <a:avLst/>
          </a:prstGeom>
          <a:noFill/>
          <a:ln/>
        </p:spPr>
        <p:txBody>
          <a:bodyPr wrap="square" lIns="0" tIns="0" rIns="0" bIns="0" rtlCol="0" anchor="ctr"/>
          <a:lstStyle/>
          <a:p>
            <a:pPr marL="0" indent="0" algn="ctr">
              <a:buNone/>
            </a:pPr>
            <a:r>
              <a:rPr lang="en-US" sz="1400" b="1" dirty="0">
                <a:solidFill>
                  <a:schemeClr val="bg1"/>
                </a:solidFill>
              </a:rPr>
              <a:t>Article</a:t>
            </a:r>
            <a:endParaRPr lang="en-US" sz="1400" dirty="0"/>
          </a:p>
        </p:txBody>
      </p:sp>
      <p:sp>
        <p:nvSpPr>
          <p:cNvPr id="9" name="stack-2"/>
          <p:cNvSpPr/>
          <p:nvPr/>
        </p:nvSpPr>
        <p:spPr>
          <a:xfrm>
            <a:off x="457200" y="2660904"/>
            <a:ext cx="2560320" cy="548640"/>
          </a:xfrm>
          <a:prstGeom prst="rect">
            <a:avLst/>
          </a:prstGeom>
          <a:solidFill>
            <a:schemeClr val="tx2"/>
          </a:solidFill>
          <a:ln w="12700">
            <a:solidFill>
              <a:schemeClr val="bg1"/>
            </a:solidFill>
            <a:prstDash val="solid"/>
          </a:ln>
        </p:spPr>
      </p:sp>
      <p:sp>
        <p:nvSpPr>
          <p:cNvPr id="10" name="Text 7"/>
          <p:cNvSpPr txBox="1"/>
          <p:nvPr/>
        </p:nvSpPr>
        <p:spPr>
          <a:xfrm>
            <a:off x="457200" y="2660904"/>
            <a:ext cx="2560320" cy="548640"/>
          </a:xfrm>
          <a:prstGeom prst="rect">
            <a:avLst/>
          </a:prstGeom>
          <a:noFill/>
          <a:ln/>
        </p:spPr>
        <p:txBody>
          <a:bodyPr wrap="square" lIns="0" tIns="0" rIns="0" bIns="0" rtlCol="0" anchor="ctr"/>
          <a:lstStyle/>
          <a:p>
            <a:pPr marL="0" indent="0" algn="ctr">
              <a:buNone/>
            </a:pPr>
            <a:r>
              <a:rPr lang="en-US" sz="1400" b="1" dirty="0">
                <a:solidFill>
                  <a:schemeClr val="bg1"/>
                </a:solidFill>
              </a:rPr>
              <a:t>Search results</a:t>
            </a:r>
            <a:endParaRPr lang="en-US" sz="1400" dirty="0"/>
          </a:p>
        </p:txBody>
      </p:sp>
      <p:sp>
        <p:nvSpPr>
          <p:cNvPr id="11" name="stack-3"/>
          <p:cNvSpPr/>
          <p:nvPr/>
        </p:nvSpPr>
        <p:spPr>
          <a:xfrm>
            <a:off x="457200" y="3282696"/>
            <a:ext cx="2560320" cy="548640"/>
          </a:xfrm>
          <a:prstGeom prst="rect">
            <a:avLst/>
          </a:prstGeom>
          <a:solidFill>
            <a:schemeClr val="tx2"/>
          </a:solidFill>
          <a:ln w="12700">
            <a:solidFill>
              <a:schemeClr val="bg1"/>
            </a:solidFill>
            <a:prstDash val="solid"/>
          </a:ln>
        </p:spPr>
      </p:sp>
      <p:sp>
        <p:nvSpPr>
          <p:cNvPr id="12" name="Text 9"/>
          <p:cNvSpPr txBox="1"/>
          <p:nvPr/>
        </p:nvSpPr>
        <p:spPr>
          <a:xfrm>
            <a:off x="457200" y="3282696"/>
            <a:ext cx="2560320" cy="548640"/>
          </a:xfrm>
          <a:prstGeom prst="rect">
            <a:avLst/>
          </a:prstGeom>
          <a:noFill/>
          <a:ln/>
        </p:spPr>
        <p:txBody>
          <a:bodyPr wrap="square" lIns="0" tIns="0" rIns="0" bIns="0" rtlCol="0" anchor="ctr"/>
          <a:lstStyle/>
          <a:p>
            <a:pPr marL="0" indent="0" algn="ctr">
              <a:buNone/>
            </a:pPr>
            <a:r>
              <a:rPr lang="en-US" sz="1400" b="1" dirty="0">
                <a:solidFill>
                  <a:schemeClr val="bg1"/>
                </a:solidFill>
              </a:rPr>
              <a:t>Home (bottom)</a:t>
            </a:r>
            <a:endParaRPr lang="en-US" sz="1400" dirty="0"/>
          </a:p>
        </p:txBody>
      </p:sp>
      <p:sp>
        <p:nvSpPr>
          <p:cNvPr id="13" name="Text 10"/>
          <p:cNvSpPr txBox="1"/>
          <p:nvPr/>
        </p:nvSpPr>
        <p:spPr>
          <a:xfrm>
            <a:off x="457200" y="4023360"/>
            <a:ext cx="2560320" cy="274320"/>
          </a:xfrm>
          <a:prstGeom prst="rect">
            <a:avLst/>
          </a:prstGeom>
          <a:noFill/>
          <a:ln/>
        </p:spPr>
        <p:txBody>
          <a:bodyPr wrap="square" lIns="0" tIns="0" rIns="0" bIns="0" rtlCol="0" anchor="t"/>
          <a:lstStyle/>
          <a:p>
            <a:pPr marL="0" indent="0" algn="ctr">
              <a:buNone/>
            </a:pPr>
            <a:r>
              <a:rPr lang="en-US" sz="1400" b="1" dirty="0">
                <a:solidFill>
                  <a:schemeClr val="accent1"/>
                </a:solidFill>
              </a:rPr>
              <a:t>LIFO: last in, first out</a:t>
            </a:r>
            <a:endParaRPr lang="en-US" sz="1400" dirty="0"/>
          </a:p>
        </p:txBody>
      </p:sp>
      <p:sp>
        <p:nvSpPr>
          <p:cNvPr id="14" name="op-row-0"/>
          <p:cNvSpPr/>
          <p:nvPr/>
        </p:nvSpPr>
        <p:spPr>
          <a:xfrm>
            <a:off x="3566160" y="1371600"/>
            <a:ext cx="5120640" cy="685800"/>
          </a:xfrm>
          <a:prstGeom prst="roundRect">
            <a:avLst>
              <a:gd name="adj" fmla="val 10667"/>
            </a:avLst>
          </a:prstGeom>
          <a:solidFill>
            <a:schemeClr val="bg2"/>
          </a:solidFill>
          <a:ln/>
        </p:spPr>
      </p:sp>
      <p:sp>
        <p:nvSpPr>
          <p:cNvPr id="15" name="op-chip-0"/>
          <p:cNvSpPr/>
          <p:nvPr/>
        </p:nvSpPr>
        <p:spPr>
          <a:xfrm>
            <a:off x="3657600" y="1463040"/>
            <a:ext cx="1417320" cy="502920"/>
          </a:xfrm>
          <a:prstGeom prst="roundRect">
            <a:avLst>
              <a:gd name="adj" fmla="val 14545"/>
            </a:avLst>
          </a:prstGeom>
          <a:solidFill>
            <a:schemeClr val="accent1"/>
          </a:solidFill>
          <a:ln/>
        </p:spPr>
      </p:sp>
      <p:sp>
        <p:nvSpPr>
          <p:cNvPr id="16" name="Text 13"/>
          <p:cNvSpPr txBox="1"/>
          <p:nvPr/>
        </p:nvSpPr>
        <p:spPr>
          <a:xfrm>
            <a:off x="3657600" y="1463040"/>
            <a:ext cx="1417320" cy="50292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push(page)</a:t>
            </a:r>
            <a:endParaRPr lang="en-US" sz="1400" dirty="0"/>
          </a:p>
        </p:txBody>
      </p:sp>
      <p:sp>
        <p:nvSpPr>
          <p:cNvPr id="17" name="Text 14"/>
          <p:cNvSpPr txBox="1"/>
          <p:nvPr/>
        </p:nvSpPr>
        <p:spPr>
          <a:xfrm>
            <a:off x="5212080" y="1463040"/>
            <a:ext cx="3383280" cy="502920"/>
          </a:xfrm>
          <a:prstGeom prst="rect">
            <a:avLst/>
          </a:prstGeom>
          <a:noFill/>
          <a:ln/>
        </p:spPr>
        <p:txBody>
          <a:bodyPr wrap="square" lIns="0" tIns="0" rIns="0" bIns="0" rtlCol="0" anchor="ctr"/>
          <a:lstStyle/>
          <a:p>
            <a:pPr marL="0" indent="0">
              <a:buNone/>
            </a:pPr>
            <a:r>
              <a:rPr lang="en-US" sz="1400" dirty="0">
                <a:solidFill>
                  <a:schemeClr val="tx1"/>
                </a:solidFill>
              </a:rPr>
              <a:t>Visit a page: place it on top. O(1)</a:t>
            </a:r>
            <a:endParaRPr lang="en-US" sz="1400" dirty="0"/>
          </a:p>
        </p:txBody>
      </p:sp>
      <p:sp>
        <p:nvSpPr>
          <p:cNvPr id="18" name="op-row-1"/>
          <p:cNvSpPr/>
          <p:nvPr/>
        </p:nvSpPr>
        <p:spPr>
          <a:xfrm>
            <a:off x="3566160" y="2167128"/>
            <a:ext cx="5120640" cy="685800"/>
          </a:xfrm>
          <a:prstGeom prst="roundRect">
            <a:avLst>
              <a:gd name="adj" fmla="val 10667"/>
            </a:avLst>
          </a:prstGeom>
          <a:solidFill>
            <a:schemeClr val="bg2"/>
          </a:solidFill>
          <a:ln/>
        </p:spPr>
      </p:sp>
      <p:sp>
        <p:nvSpPr>
          <p:cNvPr id="19" name="op-chip-1"/>
          <p:cNvSpPr/>
          <p:nvPr/>
        </p:nvSpPr>
        <p:spPr>
          <a:xfrm>
            <a:off x="3657600" y="2258568"/>
            <a:ext cx="1417320" cy="502920"/>
          </a:xfrm>
          <a:prstGeom prst="roundRect">
            <a:avLst>
              <a:gd name="adj" fmla="val 14545"/>
            </a:avLst>
          </a:prstGeom>
          <a:solidFill>
            <a:schemeClr val="accent1"/>
          </a:solidFill>
          <a:ln/>
        </p:spPr>
      </p:sp>
      <p:sp>
        <p:nvSpPr>
          <p:cNvPr id="20" name="Text 17"/>
          <p:cNvSpPr txBox="1"/>
          <p:nvPr/>
        </p:nvSpPr>
        <p:spPr>
          <a:xfrm>
            <a:off x="3657600" y="2258568"/>
            <a:ext cx="1417320" cy="50292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pop()</a:t>
            </a:r>
            <a:endParaRPr lang="en-US" sz="1400" dirty="0"/>
          </a:p>
        </p:txBody>
      </p:sp>
      <p:sp>
        <p:nvSpPr>
          <p:cNvPr id="21" name="Text 18"/>
          <p:cNvSpPr txBox="1"/>
          <p:nvPr/>
        </p:nvSpPr>
        <p:spPr>
          <a:xfrm>
            <a:off x="5212080" y="2258568"/>
            <a:ext cx="3383280" cy="502920"/>
          </a:xfrm>
          <a:prstGeom prst="rect">
            <a:avLst/>
          </a:prstGeom>
          <a:noFill/>
          <a:ln/>
        </p:spPr>
        <p:txBody>
          <a:bodyPr wrap="square" lIns="0" tIns="0" rIns="0" bIns="0" rtlCol="0" anchor="ctr"/>
          <a:lstStyle/>
          <a:p>
            <a:pPr marL="0" indent="0">
              <a:buNone/>
            </a:pPr>
            <a:r>
              <a:rPr lang="en-US" sz="1400" dirty="0">
                <a:solidFill>
                  <a:schemeClr val="tx1"/>
                </a:solidFill>
              </a:rPr>
              <a:t>Back button: remove the top, show the next. O(1)</a:t>
            </a:r>
            <a:endParaRPr lang="en-US" sz="1400" dirty="0"/>
          </a:p>
        </p:txBody>
      </p:sp>
      <p:sp>
        <p:nvSpPr>
          <p:cNvPr id="22" name="op-row-2"/>
          <p:cNvSpPr/>
          <p:nvPr/>
        </p:nvSpPr>
        <p:spPr>
          <a:xfrm>
            <a:off x="3566160" y="2962656"/>
            <a:ext cx="5120640" cy="685800"/>
          </a:xfrm>
          <a:prstGeom prst="roundRect">
            <a:avLst>
              <a:gd name="adj" fmla="val 10667"/>
            </a:avLst>
          </a:prstGeom>
          <a:solidFill>
            <a:schemeClr val="bg2"/>
          </a:solidFill>
          <a:ln/>
        </p:spPr>
      </p:sp>
      <p:sp>
        <p:nvSpPr>
          <p:cNvPr id="23" name="op-chip-2"/>
          <p:cNvSpPr/>
          <p:nvPr/>
        </p:nvSpPr>
        <p:spPr>
          <a:xfrm>
            <a:off x="3657600" y="3054096"/>
            <a:ext cx="1417320" cy="502920"/>
          </a:xfrm>
          <a:prstGeom prst="roundRect">
            <a:avLst>
              <a:gd name="adj" fmla="val 14545"/>
            </a:avLst>
          </a:prstGeom>
          <a:solidFill>
            <a:schemeClr val="accent1"/>
          </a:solidFill>
          <a:ln/>
        </p:spPr>
      </p:sp>
      <p:sp>
        <p:nvSpPr>
          <p:cNvPr id="24" name="Text 21"/>
          <p:cNvSpPr txBox="1"/>
          <p:nvPr/>
        </p:nvSpPr>
        <p:spPr>
          <a:xfrm>
            <a:off x="3657600" y="3054096"/>
            <a:ext cx="1417320" cy="50292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peek()</a:t>
            </a:r>
            <a:endParaRPr lang="en-US" sz="1400" dirty="0"/>
          </a:p>
        </p:txBody>
      </p:sp>
      <p:sp>
        <p:nvSpPr>
          <p:cNvPr id="25" name="Text 22"/>
          <p:cNvSpPr txBox="1"/>
          <p:nvPr/>
        </p:nvSpPr>
        <p:spPr>
          <a:xfrm>
            <a:off x="5212080" y="3054096"/>
            <a:ext cx="3383280" cy="502920"/>
          </a:xfrm>
          <a:prstGeom prst="rect">
            <a:avLst/>
          </a:prstGeom>
          <a:noFill/>
          <a:ln/>
        </p:spPr>
        <p:txBody>
          <a:bodyPr wrap="square" lIns="0" tIns="0" rIns="0" bIns="0" rtlCol="0" anchor="ctr"/>
          <a:lstStyle/>
          <a:p>
            <a:pPr marL="0" indent="0">
              <a:buNone/>
            </a:pPr>
            <a:r>
              <a:rPr lang="en-US" sz="1400" dirty="0">
                <a:solidFill>
                  <a:schemeClr val="tx1"/>
                </a:solidFill>
              </a:rPr>
              <a:t>Read the current page without removing it. O(1)</a:t>
            </a:r>
            <a:endParaRPr lang="en-US" sz="1400" dirty="0"/>
          </a:p>
        </p:txBody>
      </p:sp>
      <p:sp>
        <p:nvSpPr>
          <p:cNvPr id="26" name="op-row-3"/>
          <p:cNvSpPr/>
          <p:nvPr/>
        </p:nvSpPr>
        <p:spPr>
          <a:xfrm>
            <a:off x="3566160" y="3758184"/>
            <a:ext cx="5120640" cy="685800"/>
          </a:xfrm>
          <a:prstGeom prst="roundRect">
            <a:avLst>
              <a:gd name="adj" fmla="val 10667"/>
            </a:avLst>
          </a:prstGeom>
          <a:solidFill>
            <a:schemeClr val="bg2"/>
          </a:solidFill>
          <a:ln/>
        </p:spPr>
      </p:sp>
      <p:sp>
        <p:nvSpPr>
          <p:cNvPr id="27" name="op-chip-3"/>
          <p:cNvSpPr/>
          <p:nvPr/>
        </p:nvSpPr>
        <p:spPr>
          <a:xfrm>
            <a:off x="3657600" y="3849624"/>
            <a:ext cx="1417320" cy="502920"/>
          </a:xfrm>
          <a:prstGeom prst="roundRect">
            <a:avLst>
              <a:gd name="adj" fmla="val 14545"/>
            </a:avLst>
          </a:prstGeom>
          <a:solidFill>
            <a:schemeClr val="accent1"/>
          </a:solidFill>
          <a:ln/>
        </p:spPr>
      </p:sp>
      <p:sp>
        <p:nvSpPr>
          <p:cNvPr id="28" name="Text 25"/>
          <p:cNvSpPr txBox="1"/>
          <p:nvPr/>
        </p:nvSpPr>
        <p:spPr>
          <a:xfrm>
            <a:off x="3657600" y="3849624"/>
            <a:ext cx="1417320" cy="502920"/>
          </a:xfrm>
          <a:prstGeom prst="rect">
            <a:avLst/>
          </a:prstGeom>
          <a:noFill/>
          <a:ln/>
        </p:spPr>
        <p:txBody>
          <a:bodyPr wrap="square" lIns="0" tIns="0" rIns="0" bIns="0" rtlCol="0" anchor="ctr"/>
          <a:lstStyle/>
          <a:p>
            <a:pPr marL="0" indent="0" algn="ctr">
              <a:buNone/>
            </a:pPr>
            <a:r>
              <a:rPr lang="en-US" sz="1400" b="1" dirty="0">
                <a:solidFill>
                  <a:schemeClr val="bg1"/>
                </a:solidFill>
                <a:latin typeface="Courier New" pitchFamily="34" charset="0"/>
                <a:ea typeface="Courier New" pitchFamily="34" charset="-122"/>
                <a:cs typeface="Courier New" pitchFamily="34" charset="-120"/>
              </a:rPr>
              <a:t>isEmpty()</a:t>
            </a:r>
            <a:endParaRPr lang="en-US" sz="1400" dirty="0"/>
          </a:p>
        </p:txBody>
      </p:sp>
      <p:sp>
        <p:nvSpPr>
          <p:cNvPr id="29" name="Text 26"/>
          <p:cNvSpPr txBox="1"/>
          <p:nvPr/>
        </p:nvSpPr>
        <p:spPr>
          <a:xfrm>
            <a:off x="5212080" y="3849624"/>
            <a:ext cx="3383280" cy="502920"/>
          </a:xfrm>
          <a:prstGeom prst="rect">
            <a:avLst/>
          </a:prstGeom>
          <a:noFill/>
          <a:ln/>
        </p:spPr>
        <p:txBody>
          <a:bodyPr wrap="square" lIns="0" tIns="0" rIns="0" bIns="0" rtlCol="0" anchor="ctr"/>
          <a:lstStyle/>
          <a:p>
            <a:pPr marL="0" indent="0">
              <a:buNone/>
            </a:pPr>
            <a:r>
              <a:rPr lang="en-US" sz="1400" dirty="0">
                <a:solidFill>
                  <a:schemeClr val="tx1"/>
                </a:solidFill>
              </a:rPr>
              <a:t>Disable Back when no history is left. O(1)</a:t>
            </a:r>
            <a:endParaRPr lang="en-US" sz="14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Why it boosts performance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394960" cy="2057400"/>
        </p:xfrm>
        <a:graphic>
          <a:graphicData uri="http://schemas.openxmlformats.org/drawingml/2006/table">
            <a:tbl>
              <a:tblPr/>
              <a:tblGrid>
                <a:gridCol w="24688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11480">
                <a:tc>
                  <a:txBody>
                    <a:bodyPr/>
                    <a:lstStyle/>
                    <a:p>
                      <a:pPr marL="0" indent="0">
                        <a:buNone/>
                      </a:pPr>
                      <a:r>
                        <a:rPr lang="en-US" sz="1400" b="1" dirty="0">
                          <a:solidFill>
                            <a:schemeClr val="bg1"/>
                          </a:solidFill>
                        </a:rPr>
                        <a:t>Approach</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Back</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Visit</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buNone/>
                      </a:pPr>
                      <a:r>
                        <a:rPr lang="en-US" sz="1400" b="1" dirty="0">
                          <a:solidFill>
                            <a:schemeClr val="tx1"/>
                          </a:solidFill>
                        </a:rPr>
                        <a:t>Stack (top pointer)</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rgbClr val="FFF3D6"/>
                    </a:solidFill>
                  </a:tcPr>
                </a:tc>
                <a:tc>
                  <a:txBody>
                    <a:bodyPr/>
                    <a:lstStyle/>
                    <a:p>
                      <a:pPr marL="0" indent="0">
                        <a:buNone/>
                      </a:pPr>
                      <a:r>
                        <a:rPr lang="en-US" sz="1400" b="1" dirty="0">
                          <a:solidFill>
                            <a:schemeClr val="accent1"/>
                          </a:solidFill>
                        </a:rPr>
                        <a:t>O(1)</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rgbClr val="FFF3D6"/>
                    </a:solidFill>
                  </a:tcPr>
                </a:tc>
                <a:tc>
                  <a:txBody>
                    <a:bodyPr/>
                    <a:lstStyle/>
                    <a:p>
                      <a:pPr marL="0" indent="0">
                        <a:buNone/>
                      </a:pPr>
                      <a:r>
                        <a:rPr lang="en-US" sz="1400" b="1" dirty="0">
                          <a:solidFill>
                            <a:schemeClr val="accent1"/>
                          </a:solidFill>
                        </a:rPr>
                        <a:t>O(1)</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rgbClr val="FFF3D6"/>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chemeClr val="tx1"/>
                          </a:solidFill>
                        </a:rPr>
                        <a:t>Array, shift items</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400" dirty="0">
                          <a:solidFill>
                            <a:schemeClr val="tx1"/>
                          </a:solidFill>
                        </a:rPr>
                        <a:t>Scan list for last page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O(1)</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400" dirty="0">
                          <a:solidFill>
                            <a:schemeClr val="tx1"/>
                          </a:solidFill>
                        </a:rPr>
                        <a:t>Queue (FIFO)</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Wrong page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O(1)</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tat-o1"/>
          <p:cNvSpPr/>
          <p:nvPr/>
        </p:nvSpPr>
        <p:spPr>
          <a:xfrm>
            <a:off x="6126480" y="1371600"/>
            <a:ext cx="2560320" cy="2057400"/>
          </a:xfrm>
          <a:prstGeom prst="roundRect">
            <a:avLst>
              <a:gd name="adj" fmla="val 3556"/>
            </a:avLst>
          </a:prstGeom>
          <a:solidFill>
            <a:schemeClr val="tx2"/>
          </a:solidFill>
          <a:ln/>
        </p:spPr>
      </p:sp>
      <p:sp>
        <p:nvSpPr>
          <p:cNvPr id="7" name="Text 3"/>
          <p:cNvSpPr txBox="1"/>
          <p:nvPr/>
        </p:nvSpPr>
        <p:spPr>
          <a:xfrm>
            <a:off x="6309360" y="1554480"/>
            <a:ext cx="2194560" cy="73152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O(1)</a:t>
            </a:r>
            <a:endParaRPr lang="en-US" sz="4400" dirty="0"/>
          </a:p>
        </p:txBody>
      </p:sp>
      <p:sp>
        <p:nvSpPr>
          <p:cNvPr id="8" name="Text 4"/>
          <p:cNvSpPr txBox="1"/>
          <p:nvPr/>
        </p:nvSpPr>
        <p:spPr>
          <a:xfrm>
            <a:off x="6309360" y="2377440"/>
            <a:ext cx="2194560" cy="914400"/>
          </a:xfrm>
          <a:prstGeom prst="rect">
            <a:avLst/>
          </a:prstGeom>
          <a:noFill/>
          <a:ln/>
        </p:spPr>
        <p:txBody>
          <a:bodyPr wrap="square" lIns="0" tIns="0" rIns="0" bIns="0" rtlCol="0" anchor="t"/>
          <a:lstStyle/>
          <a:p>
            <a:pPr marL="0" indent="0">
              <a:buNone/>
            </a:pPr>
            <a:r>
              <a:rPr lang="en-US" sz="1400" dirty="0">
                <a:solidFill>
                  <a:schemeClr val="bg1"/>
                </a:solidFill>
              </a:rPr>
              <a:t>per Back or Visit, however long the history</a:t>
            </a:r>
            <a:endParaRPr lang="en-US" sz="1400" dirty="0"/>
          </a:p>
        </p:txBody>
      </p:sp>
      <p:sp>
        <p:nvSpPr>
          <p:cNvPr id="9" name="insight-1"/>
          <p:cNvSpPr/>
          <p:nvPr/>
        </p:nvSpPr>
        <p:spPr>
          <a:xfrm>
            <a:off x="457200" y="3657600"/>
            <a:ext cx="4023360" cy="868680"/>
          </a:xfrm>
          <a:prstGeom prst="roundRect">
            <a:avLst>
              <a:gd name="adj" fmla="val 8421"/>
            </a:avLst>
          </a:prstGeom>
          <a:solidFill>
            <a:schemeClr val="bg2"/>
          </a:solidFill>
          <a:ln/>
        </p:spPr>
      </p:sp>
      <p:sp>
        <p:nvSpPr>
          <p:cNvPr id="10" name="Text 6"/>
          <p:cNvSpPr txBox="1"/>
          <p:nvPr/>
        </p:nvSpPr>
        <p:spPr>
          <a:xfrm>
            <a:off x="640080" y="3730752"/>
            <a:ext cx="3657600" cy="731520"/>
          </a:xfrm>
          <a:prstGeom prst="rect">
            <a:avLst/>
          </a:prstGeom>
          <a:noFill/>
          <a:ln/>
        </p:spPr>
        <p:txBody>
          <a:bodyPr wrap="square" lIns="0" tIns="0" rIns="0" bIns="0" rtlCol="0" anchor="t"/>
          <a:lstStyle/>
          <a:p>
            <a:pPr marL="0" indent="0">
              <a:buNone/>
            </a:pPr>
            <a:r>
              <a:rPr lang="en-US" sz="1400" b="1" dirty="0">
                <a:solidFill>
                  <a:schemeClr val="tx2"/>
                </a:solidFill>
              </a:rPr>
              <a:t>1,000 pages of history</a:t>
            </a:r>
            <a:endParaRPr lang="en-US" sz="1400" dirty="0"/>
          </a:p>
          <a:p>
            <a:pPr marL="0" indent="0">
              <a:buNone/>
            </a:pPr>
            <a:r>
              <a:rPr lang="en-US" sz="1400" dirty="0">
                <a:solidFill>
                  <a:schemeClr val="tx1"/>
                </a:solidFill>
              </a:rPr>
              <a:t>Stack: 1 step. Shifting an array: up to 1,000.</a:t>
            </a:r>
            <a:endParaRPr lang="en-US" sz="1400" dirty="0"/>
          </a:p>
        </p:txBody>
      </p:sp>
      <p:sp>
        <p:nvSpPr>
          <p:cNvPr id="4" name="insight-2"/>
          <p:cNvSpPr/>
          <p:nvPr/>
        </p:nvSpPr>
        <p:spPr>
          <a:xfrm>
            <a:off x="4663440" y="3657600"/>
            <a:ext cx="4023360" cy="868680"/>
          </a:xfrm>
          <a:prstGeom prst="roundRect">
            <a:avLst>
              <a:gd name="adj" fmla="val 8421"/>
            </a:avLst>
          </a:prstGeom>
          <a:solidFill>
            <a:schemeClr val="bg2"/>
          </a:solidFill>
          <a:ln/>
        </p:spPr>
      </p:sp>
      <p:sp>
        <p:nvSpPr>
          <p:cNvPr id="12" name="Text 8"/>
          <p:cNvSpPr txBox="1"/>
          <p:nvPr/>
        </p:nvSpPr>
        <p:spPr>
          <a:xfrm>
            <a:off x="4846320" y="3730752"/>
            <a:ext cx="3657600" cy="731520"/>
          </a:xfrm>
          <a:prstGeom prst="rect">
            <a:avLst/>
          </a:prstGeom>
          <a:noFill/>
          <a:ln/>
        </p:spPr>
        <p:txBody>
          <a:bodyPr wrap="square" lIns="0" tIns="0" rIns="0" bIns="0" rtlCol="0" anchor="t"/>
          <a:lstStyle/>
          <a:p>
            <a:pPr marL="0" indent="0">
              <a:buNone/>
            </a:pPr>
            <a:r>
              <a:rPr lang="en-US" sz="1400" b="1" dirty="0">
                <a:solidFill>
                  <a:schemeClr val="tx2"/>
                </a:solidFill>
              </a:rPr>
              <a:t>Memory: O(n)</a:t>
            </a:r>
            <a:endParaRPr lang="en-US" sz="1400" dirty="0"/>
          </a:p>
          <a:p>
            <a:pPr marL="0" indent="0">
              <a:buNone/>
            </a:pPr>
            <a:r>
              <a:rPr lang="en-US" sz="1400" dirty="0">
                <a:solidFill>
                  <a:schemeClr val="tx1"/>
                </a:solidFill>
              </a:rPr>
              <a:t>One entry per page. A second stack powers Forward.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4.The problem: 50,000 ISBN records</a:t>
            </a:r>
            <a:endParaRPr lang="en-US" sz="3000" dirty="0"/>
          </a:p>
        </p:txBody>
      </p:sp>
      <p:sp>
        <p:nvSpPr>
          <p:cNvPr id="5" name="records-callout"/>
          <p:cNvSpPr/>
          <p:nvPr/>
        </p:nvSpPr>
        <p:spPr>
          <a:xfrm>
            <a:off x="457200" y="1371600"/>
            <a:ext cx="3017520" cy="3154680"/>
          </a:xfrm>
          <a:prstGeom prst="roundRect">
            <a:avLst>
              <a:gd name="adj" fmla="val 2424"/>
            </a:avLst>
          </a:prstGeom>
          <a:solidFill>
            <a:schemeClr val="tx2"/>
          </a:solidFill>
          <a:ln/>
        </p:spPr>
      </p:sp>
      <p:sp>
        <p:nvSpPr>
          <p:cNvPr id="6" name="Text 3"/>
          <p:cNvSpPr txBox="1"/>
          <p:nvPr/>
        </p:nvSpPr>
        <p:spPr>
          <a:xfrm>
            <a:off x="640080" y="1554480"/>
            <a:ext cx="2651760" cy="73152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50,000</a:t>
            </a:r>
            <a:endParaRPr lang="en-US" sz="4400" dirty="0"/>
          </a:p>
        </p:txBody>
      </p:sp>
      <p:sp>
        <p:nvSpPr>
          <p:cNvPr id="7" name="Text 4"/>
          <p:cNvSpPr txBox="1"/>
          <p:nvPr/>
        </p:nvSpPr>
        <p:spPr>
          <a:xfrm>
            <a:off x="640080" y="2286000"/>
            <a:ext cx="2651760" cy="274320"/>
          </a:xfrm>
          <a:prstGeom prst="rect">
            <a:avLst/>
          </a:prstGeom>
          <a:noFill/>
          <a:ln/>
        </p:spPr>
        <p:txBody>
          <a:bodyPr wrap="square" lIns="0" tIns="0" rIns="0" bIns="0" rtlCol="0" anchor="t"/>
          <a:lstStyle/>
          <a:p>
            <a:pPr marL="0" indent="0">
              <a:buNone/>
            </a:pPr>
            <a:r>
              <a:rPr lang="en-US" sz="1400" b="1" dirty="0">
                <a:solidFill>
                  <a:schemeClr val="bg1"/>
                </a:solidFill>
              </a:rPr>
              <a:t>book records</a:t>
            </a:r>
            <a:endParaRPr lang="en-US" sz="1400" dirty="0"/>
          </a:p>
        </p:txBody>
      </p:sp>
      <p:sp>
        <p:nvSpPr>
          <p:cNvPr id="8" name="Text 5"/>
          <p:cNvSpPr txBox="1"/>
          <p:nvPr/>
        </p:nvSpPr>
        <p:spPr>
          <a:xfrm>
            <a:off x="640080" y="2834640"/>
            <a:ext cx="2651760" cy="1463040"/>
          </a:xfrm>
          <a:prstGeom prst="rect">
            <a:avLst/>
          </a:prstGeom>
          <a:noFill/>
          <a:ln/>
        </p:spPr>
        <p:txBody>
          <a:bodyPr wrap="square" lIns="0" tIns="0" rIns="0" bIns="0" rtlCol="0" anchor="t"/>
          <a:lstStyle/>
          <a:p>
            <a:pPr marL="0" indent="0">
              <a:spcAft>
                <a:spcPts val="800"/>
              </a:spcAft>
              <a:buNone/>
            </a:pPr>
            <a:r>
              <a:rPr lang="en-US" sz="1400" dirty="0">
                <a:solidFill>
                  <a:schemeClr val="bg1"/>
                </a:solidFill>
              </a:rPr>
              <a:t>Key: unique 13-digit ISBN</a:t>
            </a:r>
            <a:endParaRPr lang="en-US" sz="1400" dirty="0"/>
          </a:p>
          <a:p>
            <a:pPr marL="0" indent="0">
              <a:spcAft>
                <a:spcPts val="800"/>
              </a:spcAft>
              <a:buNone/>
            </a:pPr>
            <a:r>
              <a:rPr lang="en-US" sz="1400" dirty="0">
                <a:solidFill>
                  <a:schemeClr val="bg1"/>
                </a:solidFill>
              </a:rPr>
              <a:t>Need: instant search and quick insert</a:t>
            </a:r>
            <a:endParaRPr lang="en-US" sz="1400" dirty="0"/>
          </a:p>
        </p:txBody>
      </p:sp>
      <p:sp>
        <p:nvSpPr>
          <p:cNvPr id="9" name="cand-row-0"/>
          <p:cNvSpPr/>
          <p:nvPr/>
        </p:nvSpPr>
        <p:spPr>
          <a:xfrm>
            <a:off x="3749040" y="1371600"/>
            <a:ext cx="4937760" cy="713232"/>
          </a:xfrm>
          <a:prstGeom prst="roundRect">
            <a:avLst>
              <a:gd name="adj" fmla="val 10256"/>
            </a:avLst>
          </a:prstGeom>
          <a:solidFill>
            <a:schemeClr val="bg2"/>
          </a:solidFill>
          <a:ln/>
        </p:spPr>
      </p:sp>
      <p:sp>
        <p:nvSpPr>
          <p:cNvPr id="10" name="cand-chip-0"/>
          <p:cNvSpPr/>
          <p:nvPr/>
        </p:nvSpPr>
        <p:spPr>
          <a:xfrm>
            <a:off x="3840480" y="1453896"/>
            <a:ext cx="1463040" cy="548640"/>
          </a:xfrm>
          <a:prstGeom prst="roundRect">
            <a:avLst>
              <a:gd name="adj" fmla="val 13333"/>
            </a:avLst>
          </a:prstGeom>
          <a:solidFill>
            <a:schemeClr val="accent6"/>
          </a:solidFill>
          <a:ln/>
        </p:spPr>
      </p:sp>
      <p:sp>
        <p:nvSpPr>
          <p:cNvPr id="11" name="Text 8"/>
          <p:cNvSpPr txBox="1"/>
          <p:nvPr/>
        </p:nvSpPr>
        <p:spPr>
          <a:xfrm>
            <a:off x="3840480" y="1453896"/>
            <a:ext cx="1463040" cy="548640"/>
          </a:xfrm>
          <a:prstGeom prst="rect">
            <a:avLst/>
          </a:prstGeom>
          <a:noFill/>
          <a:ln/>
        </p:spPr>
        <p:txBody>
          <a:bodyPr wrap="square" lIns="0" tIns="0" rIns="0" bIns="0" rtlCol="0" anchor="ctr"/>
          <a:lstStyle/>
          <a:p>
            <a:pPr marL="0" indent="0" algn="ctr">
              <a:buNone/>
            </a:pPr>
            <a:r>
              <a:rPr lang="en-US" sz="1400" b="1" dirty="0">
                <a:solidFill>
                  <a:schemeClr val="bg1"/>
                </a:solidFill>
              </a:rPr>
              <a:t>Linear search</a:t>
            </a:r>
            <a:endParaRPr lang="en-US" sz="1400" dirty="0"/>
          </a:p>
        </p:txBody>
      </p:sp>
      <p:sp>
        <p:nvSpPr>
          <p:cNvPr id="12" name="Text 9"/>
          <p:cNvSpPr txBox="1"/>
          <p:nvPr/>
        </p:nvSpPr>
        <p:spPr>
          <a:xfrm>
            <a:off x="5440680" y="1453896"/>
            <a:ext cx="3154680" cy="548640"/>
          </a:xfrm>
          <a:prstGeom prst="rect">
            <a:avLst/>
          </a:prstGeom>
          <a:noFill/>
          <a:ln/>
        </p:spPr>
        <p:txBody>
          <a:bodyPr wrap="square" lIns="0" tIns="0" rIns="0" bIns="0" rtlCol="0" anchor="ctr"/>
          <a:lstStyle/>
          <a:p>
            <a:pPr marL="0" indent="0">
              <a:buNone/>
            </a:pPr>
            <a:r>
              <a:rPr lang="en-US" sz="1400" dirty="0">
                <a:solidFill>
                  <a:schemeClr val="tx1"/>
                </a:solidFill>
              </a:rPr>
              <a:t>Scan every record: up to 50,000 checks.</a:t>
            </a:r>
            <a:endParaRPr lang="en-US" sz="1400" dirty="0"/>
          </a:p>
        </p:txBody>
      </p:sp>
      <p:sp>
        <p:nvSpPr>
          <p:cNvPr id="13" name="cand-row-1"/>
          <p:cNvSpPr/>
          <p:nvPr/>
        </p:nvSpPr>
        <p:spPr>
          <a:xfrm>
            <a:off x="3749040" y="2194560"/>
            <a:ext cx="4937760" cy="713232"/>
          </a:xfrm>
          <a:prstGeom prst="roundRect">
            <a:avLst>
              <a:gd name="adj" fmla="val 10256"/>
            </a:avLst>
          </a:prstGeom>
          <a:solidFill>
            <a:schemeClr val="bg2"/>
          </a:solidFill>
          <a:ln/>
        </p:spPr>
      </p:sp>
      <p:sp>
        <p:nvSpPr>
          <p:cNvPr id="14" name="cand-chip-1"/>
          <p:cNvSpPr/>
          <p:nvPr/>
        </p:nvSpPr>
        <p:spPr>
          <a:xfrm>
            <a:off x="3840480" y="2276856"/>
            <a:ext cx="1463040" cy="548640"/>
          </a:xfrm>
          <a:prstGeom prst="roundRect">
            <a:avLst>
              <a:gd name="adj" fmla="val 13333"/>
            </a:avLst>
          </a:prstGeom>
          <a:solidFill>
            <a:schemeClr val="accent6"/>
          </a:solidFill>
          <a:ln/>
        </p:spPr>
      </p:sp>
      <p:sp>
        <p:nvSpPr>
          <p:cNvPr id="15" name="Text 12"/>
          <p:cNvSpPr txBox="1"/>
          <p:nvPr/>
        </p:nvSpPr>
        <p:spPr>
          <a:xfrm>
            <a:off x="3840480" y="2276856"/>
            <a:ext cx="1463040" cy="548640"/>
          </a:xfrm>
          <a:prstGeom prst="rect">
            <a:avLst/>
          </a:prstGeom>
          <a:noFill/>
          <a:ln/>
        </p:spPr>
        <p:txBody>
          <a:bodyPr wrap="square" lIns="0" tIns="0" rIns="0" bIns="0" rtlCol="0" anchor="ctr"/>
          <a:lstStyle/>
          <a:p>
            <a:pPr marL="0" indent="0" algn="ctr">
              <a:buNone/>
            </a:pPr>
            <a:r>
              <a:rPr lang="en-US" sz="1400" b="1" dirty="0">
                <a:solidFill>
                  <a:schemeClr val="bg1"/>
                </a:solidFill>
              </a:rPr>
              <a:t>Binary search</a:t>
            </a:r>
            <a:endParaRPr lang="en-US" sz="1400" dirty="0"/>
          </a:p>
        </p:txBody>
      </p:sp>
      <p:sp>
        <p:nvSpPr>
          <p:cNvPr id="16" name="Text 13"/>
          <p:cNvSpPr txBox="1"/>
          <p:nvPr/>
        </p:nvSpPr>
        <p:spPr>
          <a:xfrm>
            <a:off x="5440680" y="2276856"/>
            <a:ext cx="3154680" cy="548640"/>
          </a:xfrm>
          <a:prstGeom prst="rect">
            <a:avLst/>
          </a:prstGeom>
          <a:noFill/>
          <a:ln/>
        </p:spPr>
        <p:txBody>
          <a:bodyPr wrap="square" lIns="0" tIns="0" rIns="0" bIns="0" rtlCol="0" anchor="ctr"/>
          <a:lstStyle/>
          <a:p>
            <a:pPr marL="0" indent="0">
              <a:buNone/>
            </a:pPr>
            <a:r>
              <a:rPr lang="en-US" sz="1400" dirty="0">
                <a:solidFill>
                  <a:schemeClr val="tx1"/>
                </a:solidFill>
              </a:rPr>
              <a:t>Needs sorted data: about 16 checks.</a:t>
            </a:r>
            <a:endParaRPr lang="en-US" sz="1400" dirty="0"/>
          </a:p>
        </p:txBody>
      </p:sp>
      <p:sp>
        <p:nvSpPr>
          <p:cNvPr id="17" name="cand-row-2"/>
          <p:cNvSpPr/>
          <p:nvPr/>
        </p:nvSpPr>
        <p:spPr>
          <a:xfrm>
            <a:off x="3749040" y="3017520"/>
            <a:ext cx="4937760" cy="713232"/>
          </a:xfrm>
          <a:prstGeom prst="roundRect">
            <a:avLst>
              <a:gd name="adj" fmla="val 10256"/>
            </a:avLst>
          </a:prstGeom>
          <a:solidFill>
            <a:schemeClr val="bg2"/>
          </a:solidFill>
          <a:ln/>
        </p:spPr>
      </p:sp>
      <p:sp>
        <p:nvSpPr>
          <p:cNvPr id="18" name="cand-chip-2"/>
          <p:cNvSpPr/>
          <p:nvPr/>
        </p:nvSpPr>
        <p:spPr>
          <a:xfrm>
            <a:off x="3840480" y="3099816"/>
            <a:ext cx="1463040" cy="548640"/>
          </a:xfrm>
          <a:prstGeom prst="roundRect">
            <a:avLst>
              <a:gd name="adj" fmla="val 13333"/>
            </a:avLst>
          </a:prstGeom>
          <a:solidFill>
            <a:schemeClr val="accent6"/>
          </a:solidFill>
          <a:ln/>
        </p:spPr>
      </p:sp>
      <p:sp>
        <p:nvSpPr>
          <p:cNvPr id="19" name="Text 16"/>
          <p:cNvSpPr txBox="1"/>
          <p:nvPr/>
        </p:nvSpPr>
        <p:spPr>
          <a:xfrm>
            <a:off x="3840480" y="3099816"/>
            <a:ext cx="1463040" cy="548640"/>
          </a:xfrm>
          <a:prstGeom prst="rect">
            <a:avLst/>
          </a:prstGeom>
          <a:noFill/>
          <a:ln/>
        </p:spPr>
        <p:txBody>
          <a:bodyPr wrap="square" lIns="0" tIns="0" rIns="0" bIns="0" rtlCol="0" anchor="ctr"/>
          <a:lstStyle/>
          <a:p>
            <a:pPr marL="0" indent="0" algn="ctr">
              <a:buNone/>
            </a:pPr>
            <a:r>
              <a:rPr lang="en-US" sz="1400" b="1" dirty="0">
                <a:solidFill>
                  <a:schemeClr val="bg1"/>
                </a:solidFill>
              </a:rPr>
              <a:t>BST</a:t>
            </a:r>
            <a:endParaRPr lang="en-US" sz="1400" dirty="0"/>
          </a:p>
        </p:txBody>
      </p:sp>
      <p:sp>
        <p:nvSpPr>
          <p:cNvPr id="20" name="Text 17"/>
          <p:cNvSpPr txBox="1"/>
          <p:nvPr/>
        </p:nvSpPr>
        <p:spPr>
          <a:xfrm>
            <a:off x="5440680" y="3099816"/>
            <a:ext cx="3154680" cy="548640"/>
          </a:xfrm>
          <a:prstGeom prst="rect">
            <a:avLst/>
          </a:prstGeom>
          <a:noFill/>
          <a:ln/>
        </p:spPr>
        <p:txBody>
          <a:bodyPr wrap="square" lIns="0" tIns="0" rIns="0" bIns="0" rtlCol="0" anchor="ctr"/>
          <a:lstStyle/>
          <a:p>
            <a:pPr marL="0" indent="0">
              <a:buNone/>
            </a:pPr>
            <a:r>
              <a:rPr lang="en-US" sz="1400" dirty="0">
                <a:solidFill>
                  <a:schemeClr val="tx1"/>
                </a:solidFill>
              </a:rPr>
              <a:t>Sorted tree: about 16 average, can skew.</a:t>
            </a:r>
            <a:endParaRPr lang="en-US" sz="1400" dirty="0"/>
          </a:p>
        </p:txBody>
      </p:sp>
      <p:sp>
        <p:nvSpPr>
          <p:cNvPr id="21" name="cand-row-3"/>
          <p:cNvSpPr/>
          <p:nvPr/>
        </p:nvSpPr>
        <p:spPr>
          <a:xfrm>
            <a:off x="3749040" y="3840480"/>
            <a:ext cx="4937760" cy="713232"/>
          </a:xfrm>
          <a:prstGeom prst="roundRect">
            <a:avLst>
              <a:gd name="adj" fmla="val 10256"/>
            </a:avLst>
          </a:prstGeom>
          <a:solidFill>
            <a:schemeClr val="bg2"/>
          </a:solidFill>
          <a:ln/>
        </p:spPr>
      </p:sp>
      <p:sp>
        <p:nvSpPr>
          <p:cNvPr id="22" name="cand-chip-3"/>
          <p:cNvSpPr/>
          <p:nvPr/>
        </p:nvSpPr>
        <p:spPr>
          <a:xfrm>
            <a:off x="3840480" y="3922776"/>
            <a:ext cx="1463040" cy="548640"/>
          </a:xfrm>
          <a:prstGeom prst="roundRect">
            <a:avLst>
              <a:gd name="adj" fmla="val 13333"/>
            </a:avLst>
          </a:prstGeom>
          <a:solidFill>
            <a:schemeClr val="accent2"/>
          </a:solidFill>
          <a:ln/>
        </p:spPr>
      </p:sp>
      <p:sp>
        <p:nvSpPr>
          <p:cNvPr id="23" name="Text 20"/>
          <p:cNvSpPr txBox="1"/>
          <p:nvPr/>
        </p:nvSpPr>
        <p:spPr>
          <a:xfrm>
            <a:off x="3840480" y="3922776"/>
            <a:ext cx="1463040" cy="548640"/>
          </a:xfrm>
          <a:prstGeom prst="rect">
            <a:avLst/>
          </a:prstGeom>
          <a:noFill/>
          <a:ln/>
        </p:spPr>
        <p:txBody>
          <a:bodyPr wrap="square" lIns="0" tIns="0" rIns="0" bIns="0" rtlCol="0" anchor="ctr"/>
          <a:lstStyle/>
          <a:p>
            <a:pPr marL="0" indent="0" algn="ctr">
              <a:buNone/>
            </a:pPr>
            <a:r>
              <a:rPr lang="en-US" sz="1400" b="1" dirty="0">
                <a:solidFill>
                  <a:schemeClr val="tx1"/>
                </a:solidFill>
              </a:rPr>
              <a:t>Hash table</a:t>
            </a:r>
            <a:endParaRPr lang="en-US" sz="1400" dirty="0"/>
          </a:p>
        </p:txBody>
      </p:sp>
      <p:sp>
        <p:nvSpPr>
          <p:cNvPr id="24" name="Text 21"/>
          <p:cNvSpPr txBox="1"/>
          <p:nvPr/>
        </p:nvSpPr>
        <p:spPr>
          <a:xfrm>
            <a:off x="5440680" y="3922776"/>
            <a:ext cx="3154680" cy="548640"/>
          </a:xfrm>
          <a:prstGeom prst="rect">
            <a:avLst/>
          </a:prstGeom>
          <a:noFill/>
          <a:ln/>
        </p:spPr>
        <p:txBody>
          <a:bodyPr wrap="square" lIns="0" tIns="0" rIns="0" bIns="0" rtlCol="0" anchor="ctr"/>
          <a:lstStyle/>
          <a:p>
            <a:pPr marL="0" indent="0">
              <a:buNone/>
            </a:pPr>
            <a:r>
              <a:rPr lang="en-US" sz="1400" dirty="0">
                <a:solidFill>
                  <a:schemeClr val="tx1"/>
                </a:solidFill>
              </a:rPr>
              <a:t>Jump by key: about 1 check on average.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Hash table: jump straight to the record</a:t>
            </a:r>
            <a:endParaRPr lang="en-US" sz="3000" dirty="0"/>
          </a:p>
        </p:txBody>
      </p:sp>
      <p:sp>
        <p:nvSpPr>
          <p:cNvPr id="5" name="step-0"/>
          <p:cNvSpPr/>
          <p:nvPr/>
        </p:nvSpPr>
        <p:spPr>
          <a:xfrm>
            <a:off x="457200" y="1371600"/>
            <a:ext cx="1783080" cy="1097280"/>
          </a:xfrm>
          <a:prstGeom prst="roundRect">
            <a:avLst>
              <a:gd name="adj" fmla="val 6667"/>
            </a:avLst>
          </a:prstGeom>
          <a:solidFill>
            <a:schemeClr val="tx2"/>
          </a:solidFill>
          <a:ln/>
        </p:spPr>
      </p:sp>
      <p:sp>
        <p:nvSpPr>
          <p:cNvPr id="6" name="Text 3"/>
          <p:cNvSpPr txBox="1"/>
          <p:nvPr/>
        </p:nvSpPr>
        <p:spPr>
          <a:xfrm>
            <a:off x="594360" y="1463040"/>
            <a:ext cx="1508760" cy="256032"/>
          </a:xfrm>
          <a:prstGeom prst="rect">
            <a:avLst/>
          </a:prstGeom>
          <a:noFill/>
          <a:ln/>
        </p:spPr>
        <p:txBody>
          <a:bodyPr wrap="square" lIns="0" tIns="0" rIns="0" bIns="0" rtlCol="0" anchor="t"/>
          <a:lstStyle/>
          <a:p>
            <a:pPr marL="0" indent="0">
              <a:buNone/>
            </a:pPr>
            <a:r>
              <a:rPr lang="en-US" sz="1200" b="1" kern="0" spc="100" dirty="0">
                <a:solidFill>
                  <a:schemeClr val="accent2"/>
                </a:solidFill>
              </a:rPr>
              <a:t>1  KEY</a:t>
            </a:r>
            <a:endParaRPr lang="en-US" sz="1200" dirty="0"/>
          </a:p>
        </p:txBody>
      </p:sp>
      <p:sp>
        <p:nvSpPr>
          <p:cNvPr id="7" name="Text 4"/>
          <p:cNvSpPr txBox="1"/>
          <p:nvPr/>
        </p:nvSpPr>
        <p:spPr>
          <a:xfrm>
            <a:off x="594360" y="1783080"/>
            <a:ext cx="1508760" cy="640080"/>
          </a:xfrm>
          <a:prstGeom prst="rect">
            <a:avLst/>
          </a:prstGeom>
          <a:noFill/>
          <a:ln/>
        </p:spPr>
        <p:txBody>
          <a:bodyPr wrap="square" lIns="0" tIns="0" rIns="0" bIns="0" rtlCol="0" anchor="t"/>
          <a:lstStyle/>
          <a:p>
            <a:pPr marL="0" indent="0">
              <a:buNone/>
            </a:pPr>
            <a:r>
              <a:rPr lang="en-US" sz="1400" b="1" dirty="0">
                <a:solidFill>
                  <a:schemeClr val="bg1"/>
                </a:solidFill>
              </a:rPr>
              <a:t>ISBN-13 number</a:t>
            </a:r>
            <a:endParaRPr lang="en-US" sz="1400" dirty="0"/>
          </a:p>
        </p:txBody>
      </p:sp>
      <p:sp>
        <p:nvSpPr>
          <p:cNvPr id="8" name="Shape 5"/>
          <p:cNvSpPr/>
          <p:nvPr/>
        </p:nvSpPr>
        <p:spPr>
          <a:xfrm>
            <a:off x="2286000" y="1920240"/>
            <a:ext cx="274320" cy="0"/>
          </a:xfrm>
          <a:prstGeom prst="line">
            <a:avLst/>
          </a:prstGeom>
          <a:noFill/>
          <a:ln w="31750">
            <a:solidFill>
              <a:schemeClr val="accent6"/>
            </a:solidFill>
            <a:prstDash val="solid"/>
            <a:tailEnd type="triangle"/>
          </a:ln>
        </p:spPr>
      </p:sp>
      <p:sp>
        <p:nvSpPr>
          <p:cNvPr id="9" name="step-1"/>
          <p:cNvSpPr/>
          <p:nvPr/>
        </p:nvSpPr>
        <p:spPr>
          <a:xfrm>
            <a:off x="2606040" y="1371600"/>
            <a:ext cx="1783080" cy="1097280"/>
          </a:xfrm>
          <a:prstGeom prst="roundRect">
            <a:avLst>
              <a:gd name="adj" fmla="val 6667"/>
            </a:avLst>
          </a:prstGeom>
          <a:solidFill>
            <a:schemeClr val="tx2"/>
          </a:solidFill>
          <a:ln/>
        </p:spPr>
      </p:sp>
      <p:sp>
        <p:nvSpPr>
          <p:cNvPr id="10" name="Text 7"/>
          <p:cNvSpPr txBox="1"/>
          <p:nvPr/>
        </p:nvSpPr>
        <p:spPr>
          <a:xfrm>
            <a:off x="2743200" y="1463040"/>
            <a:ext cx="1508760" cy="256032"/>
          </a:xfrm>
          <a:prstGeom prst="rect">
            <a:avLst/>
          </a:prstGeom>
          <a:noFill/>
          <a:ln/>
        </p:spPr>
        <p:txBody>
          <a:bodyPr wrap="square" lIns="0" tIns="0" rIns="0" bIns="0" rtlCol="0" anchor="t"/>
          <a:lstStyle/>
          <a:p>
            <a:pPr marL="0" indent="0">
              <a:buNone/>
            </a:pPr>
            <a:r>
              <a:rPr lang="en-US" sz="1200" b="1" kern="0" spc="100" dirty="0">
                <a:solidFill>
                  <a:schemeClr val="accent2"/>
                </a:solidFill>
              </a:rPr>
              <a:t>2  HASH</a:t>
            </a:r>
            <a:endParaRPr lang="en-US" sz="1200" dirty="0"/>
          </a:p>
        </p:txBody>
      </p:sp>
      <p:sp>
        <p:nvSpPr>
          <p:cNvPr id="11" name="Text 8"/>
          <p:cNvSpPr txBox="1"/>
          <p:nvPr/>
        </p:nvSpPr>
        <p:spPr>
          <a:xfrm>
            <a:off x="2743200" y="1783080"/>
            <a:ext cx="1508760" cy="640080"/>
          </a:xfrm>
          <a:prstGeom prst="rect">
            <a:avLst/>
          </a:prstGeom>
          <a:noFill/>
          <a:ln/>
        </p:spPr>
        <p:txBody>
          <a:bodyPr wrap="square" lIns="0" tIns="0" rIns="0" bIns="0" rtlCol="0" anchor="t"/>
          <a:lstStyle/>
          <a:p>
            <a:pPr marL="0" indent="0">
              <a:buNone/>
            </a:pPr>
            <a:r>
              <a:rPr lang="en-US" sz="1400" b="1" dirty="0">
                <a:solidFill>
                  <a:schemeClr val="bg1"/>
                </a:solidFill>
              </a:rPr>
              <a:t>h(k) = k mod m</a:t>
            </a:r>
            <a:endParaRPr lang="en-US" sz="1400" dirty="0"/>
          </a:p>
        </p:txBody>
      </p:sp>
      <p:sp>
        <p:nvSpPr>
          <p:cNvPr id="12" name="Shape 9"/>
          <p:cNvSpPr/>
          <p:nvPr/>
        </p:nvSpPr>
        <p:spPr>
          <a:xfrm>
            <a:off x="4434840" y="1920240"/>
            <a:ext cx="274320" cy="0"/>
          </a:xfrm>
          <a:prstGeom prst="line">
            <a:avLst/>
          </a:prstGeom>
          <a:noFill/>
          <a:ln w="31750">
            <a:solidFill>
              <a:schemeClr val="accent6"/>
            </a:solidFill>
            <a:prstDash val="solid"/>
            <a:tailEnd type="triangle"/>
          </a:ln>
        </p:spPr>
      </p:sp>
      <p:sp>
        <p:nvSpPr>
          <p:cNvPr id="13" name="step-2"/>
          <p:cNvSpPr/>
          <p:nvPr/>
        </p:nvSpPr>
        <p:spPr>
          <a:xfrm>
            <a:off x="4754880" y="1371600"/>
            <a:ext cx="1783080" cy="1097280"/>
          </a:xfrm>
          <a:prstGeom prst="roundRect">
            <a:avLst>
              <a:gd name="adj" fmla="val 6667"/>
            </a:avLst>
          </a:prstGeom>
          <a:solidFill>
            <a:schemeClr val="tx2"/>
          </a:solidFill>
          <a:ln/>
        </p:spPr>
      </p:sp>
      <p:sp>
        <p:nvSpPr>
          <p:cNvPr id="14" name="Text 11"/>
          <p:cNvSpPr txBox="1"/>
          <p:nvPr/>
        </p:nvSpPr>
        <p:spPr>
          <a:xfrm>
            <a:off x="4892040" y="1463040"/>
            <a:ext cx="1508760" cy="256032"/>
          </a:xfrm>
          <a:prstGeom prst="rect">
            <a:avLst/>
          </a:prstGeom>
          <a:noFill/>
          <a:ln/>
        </p:spPr>
        <p:txBody>
          <a:bodyPr wrap="square" lIns="0" tIns="0" rIns="0" bIns="0" rtlCol="0" anchor="t"/>
          <a:lstStyle/>
          <a:p>
            <a:pPr marL="0" indent="0">
              <a:buNone/>
            </a:pPr>
            <a:r>
              <a:rPr lang="en-US" sz="1200" b="1" kern="0" spc="100" dirty="0">
                <a:solidFill>
                  <a:schemeClr val="accent2"/>
                </a:solidFill>
              </a:rPr>
              <a:t>3  INDEX</a:t>
            </a:r>
            <a:endParaRPr lang="en-US" sz="1200" dirty="0"/>
          </a:p>
        </p:txBody>
      </p:sp>
      <p:sp>
        <p:nvSpPr>
          <p:cNvPr id="15" name="Text 12"/>
          <p:cNvSpPr txBox="1"/>
          <p:nvPr/>
        </p:nvSpPr>
        <p:spPr>
          <a:xfrm>
            <a:off x="4892040" y="1783080"/>
            <a:ext cx="1508760" cy="640080"/>
          </a:xfrm>
          <a:prstGeom prst="rect">
            <a:avLst/>
          </a:prstGeom>
          <a:noFill/>
          <a:ln/>
        </p:spPr>
        <p:txBody>
          <a:bodyPr wrap="square" lIns="0" tIns="0" rIns="0" bIns="0" rtlCol="0" anchor="t"/>
          <a:lstStyle/>
          <a:p>
            <a:pPr marL="0" indent="0">
              <a:buNone/>
            </a:pPr>
            <a:r>
              <a:rPr lang="en-US" sz="1400" b="1" dirty="0">
                <a:solidFill>
                  <a:schemeClr val="bg1"/>
                </a:solidFill>
              </a:rPr>
              <a:t>Array slot 0 to m-1</a:t>
            </a:r>
            <a:endParaRPr lang="en-US" sz="1400" dirty="0"/>
          </a:p>
        </p:txBody>
      </p:sp>
      <p:sp>
        <p:nvSpPr>
          <p:cNvPr id="16" name="Shape 13"/>
          <p:cNvSpPr/>
          <p:nvPr/>
        </p:nvSpPr>
        <p:spPr>
          <a:xfrm>
            <a:off x="6583680" y="1920240"/>
            <a:ext cx="274320" cy="0"/>
          </a:xfrm>
          <a:prstGeom prst="line">
            <a:avLst/>
          </a:prstGeom>
          <a:noFill/>
          <a:ln w="31750">
            <a:solidFill>
              <a:schemeClr val="accent6"/>
            </a:solidFill>
            <a:prstDash val="solid"/>
            <a:tailEnd type="triangle"/>
          </a:ln>
        </p:spPr>
      </p:sp>
      <p:sp>
        <p:nvSpPr>
          <p:cNvPr id="17" name="step-3"/>
          <p:cNvSpPr/>
          <p:nvPr/>
        </p:nvSpPr>
        <p:spPr>
          <a:xfrm>
            <a:off x="6903720" y="1371600"/>
            <a:ext cx="1783080" cy="1097280"/>
          </a:xfrm>
          <a:prstGeom prst="roundRect">
            <a:avLst>
              <a:gd name="adj" fmla="val 6667"/>
            </a:avLst>
          </a:prstGeom>
          <a:solidFill>
            <a:schemeClr val="accent2"/>
          </a:solidFill>
          <a:ln/>
        </p:spPr>
      </p:sp>
      <p:sp>
        <p:nvSpPr>
          <p:cNvPr id="18" name="Text 15"/>
          <p:cNvSpPr txBox="1"/>
          <p:nvPr/>
        </p:nvSpPr>
        <p:spPr>
          <a:xfrm>
            <a:off x="7040880" y="1463040"/>
            <a:ext cx="1508760" cy="256032"/>
          </a:xfrm>
          <a:prstGeom prst="rect">
            <a:avLst/>
          </a:prstGeom>
          <a:noFill/>
          <a:ln/>
        </p:spPr>
        <p:txBody>
          <a:bodyPr wrap="square" lIns="0" tIns="0" rIns="0" bIns="0" rtlCol="0" anchor="t"/>
          <a:lstStyle/>
          <a:p>
            <a:pPr marL="0" indent="0">
              <a:buNone/>
            </a:pPr>
            <a:r>
              <a:rPr lang="en-US" sz="1200" b="1" kern="0" spc="100" dirty="0">
                <a:solidFill>
                  <a:schemeClr val="tx1"/>
                </a:solidFill>
              </a:rPr>
              <a:t>4  BUCKET</a:t>
            </a:r>
            <a:endParaRPr lang="en-US" sz="1200" dirty="0"/>
          </a:p>
        </p:txBody>
      </p:sp>
      <p:sp>
        <p:nvSpPr>
          <p:cNvPr id="19" name="Text 16"/>
          <p:cNvSpPr txBox="1"/>
          <p:nvPr/>
        </p:nvSpPr>
        <p:spPr>
          <a:xfrm>
            <a:off x="7040880" y="1783080"/>
            <a:ext cx="1508760" cy="640080"/>
          </a:xfrm>
          <a:prstGeom prst="rect">
            <a:avLst/>
          </a:prstGeom>
          <a:noFill/>
          <a:ln/>
        </p:spPr>
        <p:txBody>
          <a:bodyPr wrap="square" lIns="0" tIns="0" rIns="0" bIns="0" rtlCol="0" anchor="t"/>
          <a:lstStyle/>
          <a:p>
            <a:pPr marL="0" indent="0">
              <a:buNone/>
            </a:pPr>
            <a:r>
              <a:rPr lang="en-US" sz="1400" b="1" dirty="0">
                <a:solidFill>
                  <a:schemeClr val="tx1"/>
                </a:solidFill>
              </a:rPr>
              <a:t>Compare ISBN, return book</a:t>
            </a:r>
            <a:endParaRPr lang="en-US" sz="1400" dirty="0"/>
          </a:p>
        </p:txBody>
      </p:sp>
      <p:sp>
        <p:nvSpPr>
          <p:cNvPr id="20" name="sizing-card"/>
          <p:cNvSpPr/>
          <p:nvPr/>
        </p:nvSpPr>
        <p:spPr>
          <a:xfrm>
            <a:off x="457200" y="2743200"/>
            <a:ext cx="4023360" cy="1783080"/>
          </a:xfrm>
          <a:prstGeom prst="roundRect">
            <a:avLst>
              <a:gd name="adj" fmla="val 4103"/>
            </a:avLst>
          </a:prstGeom>
          <a:solidFill>
            <a:schemeClr val="bg2"/>
          </a:solidFill>
          <a:ln/>
        </p:spPr>
      </p:sp>
      <p:sp>
        <p:nvSpPr>
          <p:cNvPr id="21" name="Text 18"/>
          <p:cNvSpPr txBox="1"/>
          <p:nvPr/>
        </p:nvSpPr>
        <p:spPr>
          <a:xfrm>
            <a:off x="640080" y="2852928"/>
            <a:ext cx="3657600" cy="274320"/>
          </a:xfrm>
          <a:prstGeom prst="rect">
            <a:avLst/>
          </a:prstGeom>
          <a:noFill/>
          <a:ln/>
        </p:spPr>
        <p:txBody>
          <a:bodyPr wrap="square" lIns="0" tIns="0" rIns="0" bIns="0" rtlCol="0" anchor="t"/>
          <a:lstStyle/>
          <a:p>
            <a:pPr marL="0" indent="0">
              <a:buNone/>
            </a:pPr>
            <a:r>
              <a:rPr lang="en-US" sz="1600" b="1" dirty="0">
                <a:solidFill>
                  <a:schemeClr val="tx2"/>
                </a:solidFill>
              </a:rPr>
              <a:t>Sizing the table</a:t>
            </a:r>
            <a:endParaRPr lang="en-US" sz="1600" dirty="0"/>
          </a:p>
        </p:txBody>
      </p:sp>
      <p:sp>
        <p:nvSpPr>
          <p:cNvPr id="22" name="Text 19"/>
          <p:cNvSpPr txBox="1"/>
          <p:nvPr/>
        </p:nvSpPr>
        <p:spPr>
          <a:xfrm>
            <a:off x="640080" y="3291840"/>
            <a:ext cx="36576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 is about 66,000 buckets (1.3 x n)</a:t>
            </a:r>
            <a:endParaRPr lang="en-US" sz="1400" dirty="0"/>
          </a:p>
          <a:p>
            <a:pPr marL="342900" indent="-342900">
              <a:spcAft>
                <a:spcPts val="600"/>
              </a:spcAft>
              <a:buSzPct val="100000"/>
              <a:buChar char="•"/>
            </a:pPr>
            <a:r>
              <a:rPr lang="en-US" sz="1400" dirty="0">
                <a:solidFill>
                  <a:schemeClr val="tx1"/>
                </a:solidFill>
              </a:rPr>
              <a:t>Load factor = n / m is about 0.75</a:t>
            </a:r>
            <a:endParaRPr lang="en-US" sz="1400" dirty="0"/>
          </a:p>
          <a:p>
            <a:pPr marL="342900" indent="-342900">
              <a:spcAft>
                <a:spcPts val="600"/>
              </a:spcAft>
              <a:buSzPct val="100000"/>
              <a:buChar char="•"/>
            </a:pPr>
            <a:r>
              <a:rPr lang="en-US" sz="1400" dirty="0">
                <a:solidFill>
                  <a:schemeClr val="tx1"/>
                </a:solidFill>
              </a:rPr>
              <a:t>Average chain stays below 1 record</a:t>
            </a:r>
            <a:endParaRPr lang="en-US" sz="1400" dirty="0"/>
          </a:p>
        </p:txBody>
      </p:sp>
      <p:sp>
        <p:nvSpPr>
          <p:cNvPr id="23" name="collision-card"/>
          <p:cNvSpPr/>
          <p:nvPr/>
        </p:nvSpPr>
        <p:spPr>
          <a:xfrm>
            <a:off x="4663440" y="2743200"/>
            <a:ext cx="4023360" cy="1783080"/>
          </a:xfrm>
          <a:prstGeom prst="roundRect">
            <a:avLst>
              <a:gd name="adj" fmla="val 4103"/>
            </a:avLst>
          </a:prstGeom>
          <a:solidFill>
            <a:schemeClr val="bg2"/>
          </a:solidFill>
          <a:ln/>
        </p:spPr>
      </p:sp>
      <p:sp>
        <p:nvSpPr>
          <p:cNvPr id="24" name="Text 21"/>
          <p:cNvSpPr txBox="1"/>
          <p:nvPr/>
        </p:nvSpPr>
        <p:spPr>
          <a:xfrm>
            <a:off x="4846320" y="2852928"/>
            <a:ext cx="3657600" cy="274320"/>
          </a:xfrm>
          <a:prstGeom prst="rect">
            <a:avLst/>
          </a:prstGeom>
          <a:noFill/>
          <a:ln/>
        </p:spPr>
        <p:txBody>
          <a:bodyPr wrap="square" lIns="0" tIns="0" rIns="0" bIns="0" rtlCol="0" anchor="t"/>
          <a:lstStyle/>
          <a:p>
            <a:pPr marL="0" indent="0">
              <a:buNone/>
            </a:pPr>
            <a:r>
              <a:rPr lang="en-US" sz="1600" b="1" dirty="0">
                <a:solidFill>
                  <a:schemeClr val="tx2"/>
                </a:solidFill>
              </a:rPr>
              <a:t>Handling collisions</a:t>
            </a:r>
            <a:endParaRPr lang="en-US" sz="1600" dirty="0"/>
          </a:p>
        </p:txBody>
      </p:sp>
      <p:sp>
        <p:nvSpPr>
          <p:cNvPr id="25" name="Text 22"/>
          <p:cNvSpPr txBox="1"/>
          <p:nvPr/>
        </p:nvSpPr>
        <p:spPr>
          <a:xfrm>
            <a:off x="4846320" y="3291840"/>
            <a:ext cx="36576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Different ISBNs can share an index</a:t>
            </a:r>
            <a:endParaRPr lang="en-US" sz="1400" dirty="0"/>
          </a:p>
          <a:p>
            <a:pPr marL="342900" indent="-342900">
              <a:spcAft>
                <a:spcPts val="600"/>
              </a:spcAft>
              <a:buSzPct val="100000"/>
              <a:buChar char="•"/>
            </a:pPr>
            <a:r>
              <a:rPr lang="en-US" sz="1400" dirty="0">
                <a:solidFill>
                  <a:schemeClr val="tx1"/>
                </a:solidFill>
              </a:rPr>
              <a:t>Chaining: bucket holds a short list</a:t>
            </a:r>
            <a:endParaRPr lang="en-US" sz="1400" dirty="0"/>
          </a:p>
          <a:p>
            <a:pPr marL="342900" indent="-342900">
              <a:spcAft>
                <a:spcPts val="600"/>
              </a:spcAft>
              <a:buSzPct val="100000"/>
              <a:buChar char="•"/>
            </a:pPr>
            <a:r>
              <a:rPr lang="en-US" sz="1400" dirty="0">
                <a:solidFill>
                  <a:schemeClr val="tx1"/>
                </a:solidFill>
              </a:rPr>
              <a:t>Search cost: O(1 + load) = O(1)</a:t>
            </a:r>
            <a:endParaRPr lang="en-US" sz="1400" dirty="0"/>
          </a:p>
        </p:txBody>
      </p:sp>
      <p:sp>
        <p:nvSpPr>
          <p:cNvPr id="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t"/>
          <a:lstStyle/>
          <a:p>
            <a:pPr marL="0" indent="0">
              <a:buNone/>
            </a:pPr>
            <a:endParaRPr lang="en-US" sz="1200" dirty="0"/>
          </a:p>
        </p:txBody>
      </p:sp>
      <p:sp>
        <p:nvSpPr>
          <p:cNvPr id="3" name="Text 0"/>
          <p:cNvSpPr>
            <a:spLocks noGrp="1"/>
          </p:cNvSpPr>
          <p:nvPr>
            <p:ph type="title" idx="100" hasCustomPrompt="1"/>
          </p:nvPr>
        </p:nvSpPr>
        <p:spPr>
          <a:xfrm>
            <a:off x="457200" y="502920"/>
            <a:ext cx="8229600" cy="685800"/>
          </a:xfrm>
          <a:prstGeom prst="rect">
            <a:avLst/>
          </a:prstGeom>
          <a:noFill/>
          <a:ln/>
        </p:spPr>
        <p:txBody>
          <a:bodyPr wrap="square" lIns="0" tIns="0" rIns="0" bIns="0" rtlCol="0" anchor="ctr"/>
          <a:lstStyle/>
          <a:p>
            <a:pPr marL="0" indent="0" algn="l">
              <a:buNone/>
            </a:pPr>
            <a:r>
              <a:rPr lang="en-US" sz="3000" b="1" dirty="0">
                <a:solidFill>
                  <a:schemeClr val="tx2"/>
                </a:solidFill>
              </a:rPr>
              <a:t>Time complexity comparison</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120640" cy="2057400"/>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11480">
                <a:tc>
                  <a:txBody>
                    <a:bodyPr/>
                    <a:lstStyle/>
                    <a:p>
                      <a:pPr marL="0" indent="0">
                        <a:buNone/>
                      </a:pPr>
                      <a:r>
                        <a:rPr lang="en-US" sz="1400" b="1" dirty="0">
                          <a:solidFill>
                            <a:schemeClr val="bg1"/>
                          </a:solidFill>
                        </a:rPr>
                        <a:t>Method</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Average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Worst</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Avg steps</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chemeClr val="tx1"/>
                          </a:solidFill>
                        </a:rPr>
                        <a:t>Linear search</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25,000</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400" dirty="0">
                          <a:solidFill>
                            <a:schemeClr val="tx1"/>
                          </a:solidFill>
                        </a:rPr>
                        <a:t>Binary search</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O(log 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O(log 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16</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400" dirty="0">
                          <a:solidFill>
                            <a:schemeClr val="tx1"/>
                          </a:solidFill>
                        </a:rPr>
                        <a:t>BST</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O(log 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tc>
                  <a:txBody>
                    <a:bodyPr/>
                    <a:lstStyle/>
                    <a:p>
                      <a:pPr marL="0" indent="0">
                        <a:buNone/>
                      </a:pPr>
                      <a:r>
                        <a:rPr lang="en-US" sz="1400" dirty="0">
                          <a:solidFill>
                            <a:schemeClr val="tx1"/>
                          </a:solidFill>
                        </a:rPr>
                        <a:t>16</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400" b="1" dirty="0">
                          <a:solidFill>
                            <a:schemeClr val="tx1"/>
                          </a:solidFill>
                        </a:rPr>
                        <a:t>Hash table</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rgbClr val="FFF3D6"/>
                    </a:solidFill>
                  </a:tcPr>
                </a:tc>
                <a:tc>
                  <a:txBody>
                    <a:bodyPr/>
                    <a:lstStyle/>
                    <a:p>
                      <a:pPr marL="0" indent="0">
                        <a:buNone/>
                      </a:pPr>
                      <a:r>
                        <a:rPr lang="en-US" sz="1400" b="1" dirty="0">
                          <a:solidFill>
                            <a:schemeClr val="accent1"/>
                          </a:solidFill>
                        </a:rPr>
                        <a:t>O(1)</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rgbClr val="FFF3D6"/>
                    </a:solidFill>
                  </a:tcPr>
                </a:tc>
                <a:tc>
                  <a:txBody>
                    <a:bodyPr/>
                    <a:lstStyle/>
                    <a:p>
                      <a:pPr marL="0" indent="0">
                        <a:buNone/>
                      </a:pPr>
                      <a:r>
                        <a:rPr lang="en-US" sz="1400" dirty="0">
                          <a:solidFill>
                            <a:schemeClr val="tx1"/>
                          </a:solidFill>
                        </a:rPr>
                        <a:t>O(n)</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rgbClr val="FFF3D6"/>
                    </a:solidFill>
                  </a:tcPr>
                </a:tc>
                <a:tc>
                  <a:txBody>
                    <a:bodyPr/>
                    <a:lstStyle/>
                    <a:p>
                      <a:pPr marL="0" indent="0">
                        <a:buNone/>
                      </a:pPr>
                      <a:r>
                        <a:rPr lang="en-US" sz="1400" b="1" dirty="0">
                          <a:solidFill>
                            <a:schemeClr val="tx1"/>
                          </a:solidFill>
                        </a:rPr>
                        <a:t>1 to 2</a:t>
                      </a:r>
                      <a:endParaRPr lang="en-US" sz="1400" dirty="0"/>
                    </a:p>
                  </a:txBody>
                  <a:tcPr marT="0" marB="0" anchor="ctr">
                    <a:lnL w="9525" cap="flat" cmpd="sng" algn="ctr">
                      <a:solidFill>
                        <a:srgbClr val="C9D6D9"/>
                      </a:solidFill>
                      <a:prstDash val="solid"/>
                      <a:round/>
                      <a:headEnd type="none" w="med" len="med"/>
                      <a:tailEnd type="none" w="med" len="med"/>
                    </a:lnL>
                    <a:lnR w="9525" cap="flat" cmpd="sng" algn="ctr">
                      <a:solidFill>
                        <a:srgbClr val="C9D6D9"/>
                      </a:solidFill>
                      <a:prstDash val="solid"/>
                      <a:round/>
                      <a:headEnd type="none" w="med" len="med"/>
                      <a:tailEnd type="none" w="med" len="med"/>
                    </a:lnR>
                    <a:lnT w="9525" cap="flat" cmpd="sng" algn="ctr">
                      <a:solidFill>
                        <a:srgbClr val="C9D6D9"/>
                      </a:solidFill>
                      <a:prstDash val="solid"/>
                      <a:round/>
                      <a:headEnd type="none" w="med" len="med"/>
                      <a:tailEnd type="none" w="med" len="med"/>
                    </a:lnT>
                    <a:lnB w="9525" cap="flat" cmpd="sng" algn="ctr">
                      <a:solidFill>
                        <a:srgbClr val="C9D6D9"/>
                      </a:solidFill>
                      <a:prstDash val="solid"/>
                      <a:round/>
                      <a:headEnd type="none" w="med" len="med"/>
                      <a:tailEnd type="none" w="med" len="med"/>
                    </a:lnB>
                    <a:solidFill>
                      <a:srgbClr val="FFF3D6"/>
                    </a:solidFill>
                  </a:tcPr>
                </a:tc>
                <a:extLst>
                  <a:ext uri="{0D108BD9-81ED-4DB2-BD59-A6C34878D82A}">
                    <a16:rowId xmlns:a16="http://schemas.microsoft.com/office/drawing/2014/main" val="10004"/>
                  </a:ext>
                </a:extLst>
              </a:tr>
            </a:tbl>
          </a:graphicData>
        </a:graphic>
      </p:graphicFrame>
      <p:graphicFrame>
        <p:nvGraphicFramePr>
          <p:cNvPr id="6" name="Chart 0"/>
          <p:cNvGraphicFramePr/>
          <p:nvPr/>
        </p:nvGraphicFramePr>
        <p:xfrm>
          <a:off x="5760720" y="1280160"/>
          <a:ext cx="29260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7" name="verdict"/>
          <p:cNvSpPr/>
          <p:nvPr/>
        </p:nvSpPr>
        <p:spPr>
          <a:xfrm>
            <a:off x="457200" y="3840480"/>
            <a:ext cx="8229600" cy="685800"/>
          </a:xfrm>
          <a:prstGeom prst="roundRect">
            <a:avLst>
              <a:gd name="adj" fmla="val 10667"/>
            </a:avLst>
          </a:prstGeom>
          <a:solidFill>
            <a:schemeClr val="accent2"/>
          </a:solidFill>
          <a:ln/>
        </p:spPr>
      </p:sp>
      <p:sp>
        <p:nvSpPr>
          <p:cNvPr id="8" name="Text 3"/>
          <p:cNvSpPr txBox="1"/>
          <p:nvPr/>
        </p:nvSpPr>
        <p:spPr>
          <a:xfrm>
            <a:off x="640080" y="3840480"/>
            <a:ext cx="7863840" cy="685800"/>
          </a:xfrm>
          <a:prstGeom prst="rect">
            <a:avLst/>
          </a:prstGeom>
          <a:noFill/>
          <a:ln/>
        </p:spPr>
        <p:txBody>
          <a:bodyPr wrap="square" lIns="0" tIns="0" rIns="0" bIns="0" rtlCol="0" anchor="ctr"/>
          <a:lstStyle/>
          <a:p>
            <a:pPr marL="0" indent="0">
              <a:buNone/>
            </a:pPr>
            <a:r>
              <a:rPr lang="en-US" sz="1600" b="1" dirty="0">
                <a:solidFill>
                  <a:schemeClr val="tx1"/>
                </a:solidFill>
              </a:rPr>
              <a:t>Verdict: a hash table gives average O(1) lookup, thousands of times fewer checks than linear search on 50,000 ISBNs.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SIMATS Data Structures">
  <a:themeElements>
    <a:clrScheme name="SIMATS Data Structures">
      <a:dk1>
        <a:srgbClr val="14232B"/>
      </a:dk1>
      <a:lt1>
        <a:srgbClr val="FFFFFF"/>
      </a:lt1>
      <a:dk2>
        <a:srgbClr val="0B3C49"/>
      </a:dk2>
      <a:lt2>
        <a:srgbClr val="EDF3F4"/>
      </a:lt2>
      <a:accent1>
        <a:srgbClr val="0F766E"/>
      </a:accent1>
      <a:accent2>
        <a:srgbClr val="F4A300"/>
      </a:accent2>
      <a:accent3>
        <a:srgbClr val="2F6F8F"/>
      </a:accent3>
      <a:accent4>
        <a:srgbClr val="C2410C"/>
      </a:accent4>
      <a:accent5>
        <a:srgbClr val="5B8C5A"/>
      </a:accent5>
      <a:accent6>
        <a:srgbClr val="6B7280"/>
      </a:accent6>
      <a:hlink>
        <a:srgbClr val="0F766E"/>
      </a:hlink>
      <a:folHlink>
        <a:srgbClr val="6B7280"/>
      </a:folHlink>
    </a:clrScheme>
    <a:fontScheme name="SIMATS Data Structur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1728</Words>
  <Application>Microsoft Office PowerPoint</Application>
  <PresentationFormat>On-screen Show (16:9)</PresentationFormat>
  <Paragraphs>252</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SIMATS Data Structures</vt:lpstr>
      <vt:lpstr>PowerPoint Presentation</vt:lpstr>
      <vt:lpstr>PowerPoint Presentation</vt:lpstr>
      <vt:lpstr>PowerPoint Presentation</vt:lpstr>
      <vt:lpstr>1.Primitive vs non-primitive types</vt:lpstr>
      <vt:lpstr>Choice: a one-dimensional array</vt:lpstr>
      <vt:lpstr>Efficiency of the array</vt:lpstr>
      <vt:lpstr>2.Why a graph fits navigation</vt:lpstr>
      <vt:lpstr>Representing the road network</vt:lpstr>
      <vt:lpstr>Shortest route: Dijkstra's algorithm</vt:lpstr>
      <vt:lpstr>3.Back navigation needs LIFO order</vt:lpstr>
      <vt:lpstr>How the Stack ADT works</vt:lpstr>
      <vt:lpstr>Why it boosts performance</vt:lpstr>
      <vt:lpstr>4.The problem: 50,000 ISBN records</vt:lpstr>
      <vt:lpstr>Hash table: jump straight to the record</vt:lpstr>
      <vt:lpstr>Time complexity comparison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 Technical Presentation (CO1 AT2)</dc:title>
  <dc:subject>PptxGenJS Presentation</dc:subject>
  <dc:creator>PptxGenJS</dc:creator>
  <cp:lastModifiedBy>nandhini nandhini</cp:lastModifiedBy>
  <cp:revision>3</cp:revision>
  <dcterms:created xsi:type="dcterms:W3CDTF">2026-10-09T03:54:33Z</dcterms:created>
  <dcterms:modified xsi:type="dcterms:W3CDTF">2026-10-09T04:21:44Z</dcterms:modified>
</cp:coreProperties>
</file>